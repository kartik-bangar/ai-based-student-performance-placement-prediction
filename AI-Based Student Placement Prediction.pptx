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TT Hoves Bold" charset="1" panose="02000003020000060003"/>
      <p:regular r:id="rId23"/>
    </p:embeddedFont>
    <p:embeddedFont>
      <p:font typeface="TT Hoves Italics" charset="1" panose="02000003020000060003"/>
      <p:regular r:id="rId24"/>
    </p:embeddedFont>
    <p:embeddedFont>
      <p:font typeface="TT Hoves" charset="1" panose="02000003020000060003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jpeg" Type="http://schemas.openxmlformats.org/officeDocument/2006/relationships/image"/><Relationship Id="rId5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092911" y="-450527"/>
            <a:ext cx="11221859" cy="11221859"/>
          </a:xfrm>
          <a:custGeom>
            <a:avLst/>
            <a:gdLst/>
            <a:ahLst/>
            <a:cxnLst/>
            <a:rect r="r" b="b" t="t" l="l"/>
            <a:pathLst>
              <a:path h="11221859" w="11221859">
                <a:moveTo>
                  <a:pt x="0" y="0"/>
                </a:moveTo>
                <a:lnTo>
                  <a:pt x="11221859" y="0"/>
                </a:lnTo>
                <a:lnTo>
                  <a:pt x="11221859" y="11221858"/>
                </a:lnTo>
                <a:lnTo>
                  <a:pt x="0" y="112218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96258" y="-450527"/>
            <a:ext cx="19680517" cy="1704491"/>
            <a:chOff x="0" y="0"/>
            <a:chExt cx="5183346" cy="44891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83346" cy="448919"/>
            </a:xfrm>
            <a:custGeom>
              <a:avLst/>
              <a:gdLst/>
              <a:ahLst/>
              <a:cxnLst/>
              <a:rect r="r" b="b" t="t" l="l"/>
              <a:pathLst>
                <a:path h="448919" w="5183346">
                  <a:moveTo>
                    <a:pt x="0" y="0"/>
                  </a:moveTo>
                  <a:lnTo>
                    <a:pt x="5183346" y="0"/>
                  </a:lnTo>
                  <a:lnTo>
                    <a:pt x="5183346" y="448919"/>
                  </a:lnTo>
                  <a:lnTo>
                    <a:pt x="0" y="448919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83346" cy="5060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3168312"/>
            <a:ext cx="13746018" cy="4245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68"/>
              </a:lnSpc>
            </a:pPr>
            <a:r>
              <a:rPr lang="en-US" b="true" sz="11668" spc="-571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IBM University Engagement Project Submission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2733170" y="6536160"/>
            <a:ext cx="5970671" cy="5970671"/>
          </a:xfrm>
          <a:custGeom>
            <a:avLst/>
            <a:gdLst/>
            <a:ahLst/>
            <a:cxnLst/>
            <a:rect r="r" b="b" t="t" l="l"/>
            <a:pathLst>
              <a:path h="5970671" w="5970671">
                <a:moveTo>
                  <a:pt x="0" y="0"/>
                </a:moveTo>
                <a:lnTo>
                  <a:pt x="5970670" y="0"/>
                </a:lnTo>
                <a:lnTo>
                  <a:pt x="5970670" y="5970671"/>
                </a:lnTo>
                <a:lnTo>
                  <a:pt x="0" y="59706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85180" y="-3320777"/>
            <a:ext cx="8189168" cy="8189168"/>
          </a:xfrm>
          <a:custGeom>
            <a:avLst/>
            <a:gdLst/>
            <a:ahLst/>
            <a:cxnLst/>
            <a:rect r="r" b="b" t="t" l="l"/>
            <a:pathLst>
              <a:path h="8189168" w="8189168">
                <a:moveTo>
                  <a:pt x="0" y="0"/>
                </a:moveTo>
                <a:lnTo>
                  <a:pt x="8189168" y="0"/>
                </a:lnTo>
                <a:lnTo>
                  <a:pt x="8189168" y="8189168"/>
                </a:lnTo>
                <a:lnTo>
                  <a:pt x="0" y="81891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96258" y="-450527"/>
            <a:ext cx="19680517" cy="1704491"/>
            <a:chOff x="0" y="0"/>
            <a:chExt cx="5183346" cy="44891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83346" cy="448919"/>
            </a:xfrm>
            <a:custGeom>
              <a:avLst/>
              <a:gdLst/>
              <a:ahLst/>
              <a:cxnLst/>
              <a:rect r="r" b="b" t="t" l="l"/>
              <a:pathLst>
                <a:path h="448919" w="5183346">
                  <a:moveTo>
                    <a:pt x="0" y="0"/>
                  </a:moveTo>
                  <a:lnTo>
                    <a:pt x="5183346" y="0"/>
                  </a:lnTo>
                  <a:lnTo>
                    <a:pt x="5183346" y="448919"/>
                  </a:lnTo>
                  <a:lnTo>
                    <a:pt x="0" y="448919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83346" cy="5060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4012651" y="9022118"/>
            <a:ext cx="3867112" cy="849450"/>
          </a:xfrm>
          <a:custGeom>
            <a:avLst/>
            <a:gdLst/>
            <a:ahLst/>
            <a:cxnLst/>
            <a:rect r="r" b="b" t="t" l="l"/>
            <a:pathLst>
              <a:path h="849450" w="3867112">
                <a:moveTo>
                  <a:pt x="0" y="0"/>
                </a:moveTo>
                <a:lnTo>
                  <a:pt x="3867113" y="0"/>
                </a:lnTo>
                <a:lnTo>
                  <a:pt x="3867113" y="849450"/>
                </a:lnTo>
                <a:lnTo>
                  <a:pt x="0" y="8494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81300" r="0" b="-173948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974253" y="1874375"/>
            <a:ext cx="2727607" cy="3410281"/>
          </a:xfrm>
          <a:custGeom>
            <a:avLst/>
            <a:gdLst/>
            <a:ahLst/>
            <a:cxnLst/>
            <a:rect r="r" b="b" t="t" l="l"/>
            <a:pathLst>
              <a:path h="3410281" w="2727607">
                <a:moveTo>
                  <a:pt x="0" y="0"/>
                </a:moveTo>
                <a:lnTo>
                  <a:pt x="2727608" y="0"/>
                </a:lnTo>
                <a:lnTo>
                  <a:pt x="2727608" y="3410282"/>
                </a:lnTo>
                <a:lnTo>
                  <a:pt x="0" y="34102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884491"/>
            <a:ext cx="13276114" cy="2545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85"/>
              </a:lnSpc>
            </a:pPr>
            <a:r>
              <a:rPr lang="en-US" b="true" sz="7006" spc="-343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AI-Based Student Performance &amp; Placement Prediction Using IBM Watsonx.ai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7008645"/>
            <a:ext cx="12708322" cy="2719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4"/>
              </a:lnSpc>
            </a:pPr>
            <a:r>
              <a:rPr lang="en-US" sz="3662" i="true" spc="-73">
                <a:solidFill>
                  <a:srgbClr val="343434"/>
                </a:solidFill>
                <a:latin typeface="TT Hoves Italics"/>
                <a:ea typeface="TT Hoves Italics"/>
                <a:cs typeface="TT Hoves Italics"/>
                <a:sym typeface="TT Hoves Italics"/>
              </a:rPr>
              <a:t>Submitted By - </a:t>
            </a:r>
            <a:r>
              <a:rPr lang="en-US" sz="3662" spc="-73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Ka</a:t>
            </a:r>
            <a:r>
              <a:rPr lang="en-US" sz="3662" spc="-73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rtik Bangar</a:t>
            </a:r>
          </a:p>
          <a:p>
            <a:pPr algn="l">
              <a:lnSpc>
                <a:spcPts val="4284"/>
              </a:lnSpc>
            </a:pPr>
            <a:r>
              <a:rPr lang="en-US" sz="3662" i="true" spc="-73">
                <a:solidFill>
                  <a:srgbClr val="343434"/>
                </a:solidFill>
                <a:latin typeface="TT Hoves Italics"/>
                <a:ea typeface="TT Hoves Italics"/>
                <a:cs typeface="TT Hoves Italics"/>
                <a:sym typeface="TT Hoves Italics"/>
              </a:rPr>
              <a:t>Email ID</a:t>
            </a:r>
            <a:r>
              <a:rPr lang="en-US" sz="3662" spc="-73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 - kartikbangar04@gmail.com</a:t>
            </a:r>
          </a:p>
          <a:p>
            <a:pPr algn="l">
              <a:lnSpc>
                <a:spcPts val="4284"/>
              </a:lnSpc>
            </a:pPr>
            <a:r>
              <a:rPr lang="en-US" sz="3662" i="true" spc="-73">
                <a:solidFill>
                  <a:srgbClr val="343434"/>
                </a:solidFill>
                <a:latin typeface="TT Hoves Italics"/>
                <a:ea typeface="TT Hoves Italics"/>
                <a:cs typeface="TT Hoves Italics"/>
                <a:sym typeface="TT Hoves Italics"/>
              </a:rPr>
              <a:t>Contact</a:t>
            </a:r>
            <a:r>
              <a:rPr lang="en-US" sz="3662" spc="-73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 - +91 9371120323</a:t>
            </a:r>
          </a:p>
          <a:p>
            <a:pPr algn="l">
              <a:lnSpc>
                <a:spcPts val="4284"/>
              </a:lnSpc>
            </a:pPr>
            <a:r>
              <a:rPr lang="en-US" sz="3662" spc="-73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Department of Electronics &amp; Telecommunication Engineering</a:t>
            </a:r>
          </a:p>
          <a:p>
            <a:pPr algn="l">
              <a:lnSpc>
                <a:spcPts val="4284"/>
              </a:lnSpc>
            </a:pPr>
            <a:r>
              <a:rPr lang="en-US" sz="3662" spc="-73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MIT Academy of Engineering, Alandi, Pune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4659957"/>
            <a:ext cx="12708322" cy="483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2"/>
              </a:lnSpc>
            </a:pPr>
            <a:r>
              <a:rPr lang="en-US" sz="3662" spc="-73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Domain: Artificial Intelligence &amp; Machine Learning (AI/ML)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96258" y="-976142"/>
            <a:ext cx="7178388" cy="11878896"/>
            <a:chOff x="0" y="0"/>
            <a:chExt cx="1890604" cy="31285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90604" cy="3128598"/>
            </a:xfrm>
            <a:custGeom>
              <a:avLst/>
              <a:gdLst/>
              <a:ahLst/>
              <a:cxnLst/>
              <a:rect r="r" b="b" t="t" l="l"/>
              <a:pathLst>
                <a:path h="3128598" w="1890604">
                  <a:moveTo>
                    <a:pt x="0" y="0"/>
                  </a:moveTo>
                  <a:lnTo>
                    <a:pt x="1890604" y="0"/>
                  </a:lnTo>
                  <a:lnTo>
                    <a:pt x="1890604" y="3128598"/>
                  </a:lnTo>
                  <a:lnTo>
                    <a:pt x="0" y="3128598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890604" cy="3185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263798" y="-4131629"/>
            <a:ext cx="7991003" cy="7991003"/>
          </a:xfrm>
          <a:custGeom>
            <a:avLst/>
            <a:gdLst/>
            <a:ahLst/>
            <a:cxnLst/>
            <a:rect r="r" b="b" t="t" l="l"/>
            <a:pathLst>
              <a:path h="7991003" w="7991003">
                <a:moveTo>
                  <a:pt x="0" y="0"/>
                </a:moveTo>
                <a:lnTo>
                  <a:pt x="7991004" y="0"/>
                </a:lnTo>
                <a:lnTo>
                  <a:pt x="7991004" y="7991003"/>
                </a:lnTo>
                <a:lnTo>
                  <a:pt x="0" y="79910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202567" y="634400"/>
            <a:ext cx="10381388" cy="9018199"/>
            <a:chOff x="0" y="0"/>
            <a:chExt cx="13841851" cy="12024266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4947825"/>
              <a:ext cx="13841851" cy="7076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3239"/>
                </a:lnSpc>
                <a:spcBef>
                  <a:spcPct val="0"/>
                </a:spcBef>
              </a:pPr>
              <a:r>
                <a:rPr lang="en-US" sz="2399" spc="143">
                  <a:solidFill>
                    <a:srgbClr val="343434"/>
                  </a:solidFill>
                  <a:latin typeface="TT Hoves"/>
                  <a:ea typeface="TT Hoves"/>
                  <a:cs typeface="TT Hoves"/>
                  <a:sym typeface="TT Hoves"/>
                </a:rPr>
                <a:t>Educat</a:t>
              </a:r>
              <a:r>
                <a:rPr lang="en-US" sz="2399" spc="143" u="none">
                  <a:solidFill>
                    <a:srgbClr val="343434"/>
                  </a:solidFill>
                  <a:latin typeface="TT Hoves"/>
                  <a:ea typeface="TT Hoves"/>
                  <a:cs typeface="TT Hoves"/>
                  <a:sym typeface="TT Hoves"/>
                </a:rPr>
                <a:t>ional institutions often face difficulties in identifying students who are likely to secure campus placements. Traditional evaluation methods mainly depend on academic performance and manual assessment, which are time-consuming and may not accurately reflect a student's placement potential. There is a need for an intelligent system that analyzes multiple student attributes and predicts placement outcomes using Artificial Intelligence.</a:t>
              </a:r>
            </a:p>
            <a:p>
              <a:pPr algn="just" marL="0" indent="0" lvl="0">
                <a:lnSpc>
                  <a:spcPts val="3239"/>
                </a:lnSpc>
                <a:spcBef>
                  <a:spcPct val="0"/>
                </a:spcBef>
              </a:pPr>
              <a:r>
                <a:rPr lang="en-US" sz="2399" spc="143" u="none">
                  <a:solidFill>
                    <a:srgbClr val="343434"/>
                  </a:solidFill>
                  <a:latin typeface="TT Hoves"/>
                  <a:ea typeface="TT Hoves"/>
                  <a:cs typeface="TT Hoves"/>
                  <a:sym typeface="TT Hoves"/>
                </a:rPr>
                <a:t>Challenges</a:t>
              </a:r>
            </a:p>
            <a:p>
              <a:pPr algn="just" marL="0" indent="0" lvl="0">
                <a:lnSpc>
                  <a:spcPts val="3239"/>
                </a:lnSpc>
                <a:spcBef>
                  <a:spcPct val="0"/>
                </a:spcBef>
              </a:pPr>
              <a:r>
                <a:rPr lang="en-US" sz="2399" spc="143" u="none">
                  <a:solidFill>
                    <a:srgbClr val="343434"/>
                  </a:solidFill>
                  <a:latin typeface="TT Hoves"/>
                  <a:ea typeface="TT Hoves"/>
                  <a:cs typeface="TT Hoves"/>
                  <a:sym typeface="TT Hoves"/>
                </a:rPr>
                <a:t>• Manual evaluation process</a:t>
              </a:r>
            </a:p>
            <a:p>
              <a:pPr algn="just" marL="0" indent="0" lvl="0">
                <a:lnSpc>
                  <a:spcPts val="3239"/>
                </a:lnSpc>
                <a:spcBef>
                  <a:spcPct val="0"/>
                </a:spcBef>
              </a:pPr>
              <a:r>
                <a:rPr lang="en-US" sz="2399" spc="143" u="none">
                  <a:solidFill>
                    <a:srgbClr val="343434"/>
                  </a:solidFill>
                  <a:latin typeface="TT Hoves"/>
                  <a:ea typeface="TT Hoves"/>
                  <a:cs typeface="TT Hoves"/>
                  <a:sym typeface="TT Hoves"/>
                </a:rPr>
                <a:t>• Time-consuming analysis</a:t>
              </a:r>
            </a:p>
            <a:p>
              <a:pPr algn="just" marL="0" indent="0" lvl="0">
                <a:lnSpc>
                  <a:spcPts val="3239"/>
                </a:lnSpc>
                <a:spcBef>
                  <a:spcPct val="0"/>
                </a:spcBef>
              </a:pPr>
              <a:r>
                <a:rPr lang="en-US" sz="2399" spc="143" u="none">
                  <a:solidFill>
                    <a:srgbClr val="343434"/>
                  </a:solidFill>
                  <a:latin typeface="TT Hoves"/>
                  <a:ea typeface="TT Hoves"/>
                  <a:cs typeface="TT Hoves"/>
                  <a:sym typeface="TT Hoves"/>
                </a:rPr>
                <a:t>• Lack of predictive insights</a:t>
              </a:r>
            </a:p>
            <a:p>
              <a:pPr algn="just" marL="0" indent="0" lvl="0">
                <a:lnSpc>
                  <a:spcPts val="3239"/>
                </a:lnSpc>
                <a:spcBef>
                  <a:spcPct val="0"/>
                </a:spcBef>
              </a:pPr>
              <a:r>
                <a:rPr lang="en-US" sz="2399" spc="143" u="none">
                  <a:solidFill>
                    <a:srgbClr val="343434"/>
                  </a:solidFill>
                  <a:latin typeface="TT Hoves"/>
                  <a:ea typeface="TT Hoves"/>
                  <a:cs typeface="TT Hoves"/>
                  <a:sym typeface="TT Hoves"/>
                </a:rPr>
                <a:t>• Inconsistent decision making</a:t>
              </a:r>
            </a:p>
            <a:p>
              <a:pPr algn="just" marL="0" indent="0" lvl="0">
                <a:lnSpc>
                  <a:spcPts val="3239"/>
                </a:lnSpc>
                <a:spcBef>
                  <a:spcPct val="0"/>
                </a:spcBef>
              </a:pPr>
              <a:r>
                <a:rPr lang="en-US" sz="2399" spc="143" u="none">
                  <a:solidFill>
                    <a:srgbClr val="343434"/>
                  </a:solidFill>
                  <a:latin typeface="TT Hoves"/>
                  <a:ea typeface="TT Hoves"/>
                  <a:cs typeface="TT Hoves"/>
                  <a:sym typeface="TT Hoves"/>
                </a:rPr>
                <a:t>• Difficulty identifying placement-ready students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304800"/>
              <a:ext cx="13014099" cy="41624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1645"/>
                </a:lnSpc>
              </a:pPr>
              <a:r>
                <a:rPr lang="en-US" b="true" sz="12388" spc="-607">
                  <a:solidFill>
                    <a:srgbClr val="343434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Problem Statement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-5400000">
            <a:off x="4153815" y="2193122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INTRODUCTION</a:t>
            </a:r>
          </a:p>
        </p:txBody>
      </p:sp>
      <p:sp>
        <p:nvSpPr>
          <p:cNvPr name="TextBox 10" id="10"/>
          <p:cNvSpPr txBox="true"/>
          <p:nvPr/>
        </p:nvSpPr>
        <p:spPr>
          <a:xfrm rot="-5400000">
            <a:off x="5009345" y="4960472"/>
            <a:ext cx="140626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-1725735" y="6821207"/>
            <a:ext cx="5508869" cy="483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14"/>
              </a:lnSpc>
            </a:pPr>
            <a:r>
              <a:rPr lang="en-US" b="true" sz="37888" spc="-1856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06356" y="2028163"/>
            <a:ext cx="7847905" cy="6230673"/>
            <a:chOff x="0" y="0"/>
            <a:chExt cx="10463874" cy="830756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2869424"/>
              <a:ext cx="10463874" cy="54381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0"/>
                </a:lnSpc>
                <a:spcBef>
                  <a:spcPct val="0"/>
                </a:spcBef>
              </a:pPr>
              <a:r>
                <a:rPr lang="en-US" sz="2400" spc="144">
                  <a:solidFill>
                    <a:srgbClr val="343434"/>
                  </a:solidFill>
                  <a:latin typeface="TT Hoves"/>
                  <a:ea typeface="TT Hoves"/>
                  <a:cs typeface="TT Hoves"/>
                  <a:sym typeface="TT Hoves"/>
                </a:rPr>
                <a:t>Th</a:t>
              </a:r>
              <a:r>
                <a:rPr lang="en-US" sz="2400" spc="144" u="none">
                  <a:solidFill>
                    <a:srgbClr val="343434"/>
                  </a:solidFill>
                  <a:latin typeface="TT Hoves"/>
                  <a:ea typeface="TT Hoves"/>
                  <a:cs typeface="TT Hoves"/>
                  <a:sym typeface="TT Hoves"/>
                </a:rPr>
                <a:t>e primary objectives of this project are:</a:t>
              </a:r>
            </a:p>
            <a:p>
              <a:pPr algn="l" marL="0" indent="0" lvl="0">
                <a:lnSpc>
                  <a:spcPts val="3240"/>
                </a:lnSpc>
                <a:spcBef>
                  <a:spcPct val="0"/>
                </a:spcBef>
              </a:pPr>
              <a:r>
                <a:rPr lang="en-US" sz="2400" spc="144" u="none">
                  <a:solidFill>
                    <a:srgbClr val="343434"/>
                  </a:solidFill>
                  <a:latin typeface="TT Hoves"/>
                  <a:ea typeface="TT Hoves"/>
                  <a:cs typeface="TT Hoves"/>
                  <a:sym typeface="TT Hoves"/>
                </a:rPr>
                <a:t>• Predict whether a student is likely to be placed.</a:t>
              </a:r>
            </a:p>
            <a:p>
              <a:pPr algn="l" marL="0" indent="0" lvl="0">
                <a:lnSpc>
                  <a:spcPts val="3240"/>
                </a:lnSpc>
                <a:spcBef>
                  <a:spcPct val="0"/>
                </a:spcBef>
              </a:pPr>
              <a:r>
                <a:rPr lang="en-US" sz="2400" spc="144" u="none">
                  <a:solidFill>
                    <a:srgbClr val="343434"/>
                  </a:solidFill>
                  <a:latin typeface="TT Hoves"/>
                  <a:ea typeface="TT Hoves"/>
                  <a:cs typeface="TT Hoves"/>
                  <a:sym typeface="TT Hoves"/>
                </a:rPr>
                <a:t>• Analyze academic, technical, and communication-related attributes.</a:t>
              </a:r>
            </a:p>
            <a:p>
              <a:pPr algn="l" marL="0" indent="0" lvl="0">
                <a:lnSpc>
                  <a:spcPts val="3240"/>
                </a:lnSpc>
                <a:spcBef>
                  <a:spcPct val="0"/>
                </a:spcBef>
              </a:pPr>
              <a:r>
                <a:rPr lang="en-US" sz="2400" spc="144" u="none">
                  <a:solidFill>
                    <a:srgbClr val="343434"/>
                  </a:solidFill>
                  <a:latin typeface="TT Hoves"/>
                  <a:ea typeface="TT Hoves"/>
                  <a:cs typeface="TT Hoves"/>
                  <a:sym typeface="TT Hoves"/>
                </a:rPr>
                <a:t>• Automate the prediction process using IBM Watsonx.ai AutoAI.</a:t>
              </a:r>
            </a:p>
            <a:p>
              <a:pPr algn="l" marL="0" indent="0" lvl="0">
                <a:lnSpc>
                  <a:spcPts val="3240"/>
                </a:lnSpc>
                <a:spcBef>
                  <a:spcPct val="0"/>
                </a:spcBef>
              </a:pPr>
              <a:r>
                <a:rPr lang="en-US" sz="2400" spc="144" u="none">
                  <a:solidFill>
                    <a:srgbClr val="343434"/>
                  </a:solidFill>
                  <a:latin typeface="TT Hoves"/>
                  <a:ea typeface="TT Hoves"/>
                  <a:cs typeface="TT Hoves"/>
                  <a:sym typeface="TT Hoves"/>
                </a:rPr>
                <a:t>• Deploy the trained machine learning model on IBM Cloud.</a:t>
              </a:r>
            </a:p>
            <a:p>
              <a:pPr algn="l" marL="0" indent="0" lvl="0">
                <a:lnSpc>
                  <a:spcPts val="3240"/>
                </a:lnSpc>
                <a:spcBef>
                  <a:spcPct val="0"/>
                </a:spcBef>
              </a:pPr>
              <a:r>
                <a:rPr lang="en-US" sz="2400" spc="144" u="none">
                  <a:solidFill>
                    <a:srgbClr val="343434"/>
                  </a:solidFill>
                  <a:latin typeface="TT Hoves"/>
                  <a:ea typeface="TT Hoves"/>
                  <a:cs typeface="TT Hoves"/>
                  <a:sym typeface="TT Hoves"/>
                </a:rPr>
                <a:t>• Assist educational institutions in improving placement preparation strategies.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42875"/>
              <a:ext cx="10185400" cy="18178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0180"/>
                </a:lnSpc>
              </a:pPr>
              <a:r>
                <a:rPr lang="en-US" b="true" sz="9695" spc="-475">
                  <a:solidFill>
                    <a:srgbClr val="343434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Objectives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560011" y="-2564899"/>
            <a:ext cx="16075318" cy="16075318"/>
          </a:xfrm>
          <a:custGeom>
            <a:avLst/>
            <a:gdLst/>
            <a:ahLst/>
            <a:cxnLst/>
            <a:rect r="r" b="b" t="t" l="l"/>
            <a:pathLst>
              <a:path h="16075318" w="16075318">
                <a:moveTo>
                  <a:pt x="0" y="0"/>
                </a:moveTo>
                <a:lnTo>
                  <a:pt x="16075318" y="0"/>
                </a:lnTo>
                <a:lnTo>
                  <a:pt x="16075318" y="16075318"/>
                </a:lnTo>
                <a:lnTo>
                  <a:pt x="0" y="160753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696258" y="-976142"/>
            <a:ext cx="2222590" cy="11878896"/>
            <a:chOff x="0" y="0"/>
            <a:chExt cx="585373" cy="31285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85373" cy="3128598"/>
            </a:xfrm>
            <a:custGeom>
              <a:avLst/>
              <a:gdLst/>
              <a:ahLst/>
              <a:cxnLst/>
              <a:rect r="r" b="b" t="t" l="l"/>
              <a:pathLst>
                <a:path h="3128598" w="585373">
                  <a:moveTo>
                    <a:pt x="0" y="0"/>
                  </a:moveTo>
                  <a:lnTo>
                    <a:pt x="585373" y="0"/>
                  </a:lnTo>
                  <a:lnTo>
                    <a:pt x="585373" y="3128598"/>
                  </a:lnTo>
                  <a:lnTo>
                    <a:pt x="0" y="3128598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585373" cy="3185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2601687" y="6540872"/>
            <a:ext cx="7498697" cy="483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14"/>
              </a:lnSpc>
            </a:pPr>
            <a:r>
              <a:rPr lang="en-US" b="true" sz="37888" spc="-1856">
                <a:solidFill>
                  <a:srgbClr val="FCFCFC"/>
                </a:solidFill>
                <a:latin typeface="TT Hoves Bold"/>
                <a:ea typeface="TT Hoves Bold"/>
                <a:cs typeface="TT Hoves Bold"/>
                <a:sym typeface="TT Hoves Bold"/>
              </a:rPr>
              <a:t>02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01687" y="-5498747"/>
            <a:ext cx="9598990" cy="9598990"/>
          </a:xfrm>
          <a:custGeom>
            <a:avLst/>
            <a:gdLst/>
            <a:ahLst/>
            <a:cxnLst/>
            <a:rect r="r" b="b" t="t" l="l"/>
            <a:pathLst>
              <a:path h="9598990" w="9598990">
                <a:moveTo>
                  <a:pt x="0" y="0"/>
                </a:moveTo>
                <a:lnTo>
                  <a:pt x="9598990" y="0"/>
                </a:lnTo>
                <a:lnTo>
                  <a:pt x="9598990" y="9598990"/>
                </a:lnTo>
                <a:lnTo>
                  <a:pt x="0" y="95989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553840" y="6592164"/>
            <a:ext cx="7498697" cy="483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14"/>
              </a:lnSpc>
            </a:pPr>
            <a:r>
              <a:rPr lang="en-US" b="true" sz="37888" spc="-1856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03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503930" y="1740421"/>
            <a:ext cx="17280139" cy="5711064"/>
            <a:chOff x="0" y="0"/>
            <a:chExt cx="23040186" cy="7614752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76200" y="2104535"/>
              <a:ext cx="2705466" cy="6445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4049"/>
                </a:lnSpc>
                <a:spcBef>
                  <a:spcPct val="0"/>
                </a:spcBef>
              </a:pPr>
              <a:r>
                <a:rPr lang="en-US" b="true" sz="2999" spc="179" u="none">
                  <a:solidFill>
                    <a:srgbClr val="343434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Workflow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42875"/>
              <a:ext cx="16660687" cy="18178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180"/>
                </a:lnSpc>
              </a:pPr>
              <a:r>
                <a:rPr lang="en-US" b="true" sz="9695" spc="-475">
                  <a:solidFill>
                    <a:srgbClr val="343434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System Architecture</a:t>
              </a:r>
            </a:p>
          </p:txBody>
        </p:sp>
        <p:grpSp>
          <p:nvGrpSpPr>
            <p:cNvPr name="Group 7" id="7"/>
            <p:cNvGrpSpPr/>
            <p:nvPr/>
          </p:nvGrpSpPr>
          <p:grpSpPr>
            <a:xfrm rot="0">
              <a:off x="0" y="3519829"/>
              <a:ext cx="4416459" cy="909626"/>
              <a:chOff x="0" y="0"/>
              <a:chExt cx="2691968" cy="554445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691968" cy="554445"/>
              </a:xfrm>
              <a:custGeom>
                <a:avLst/>
                <a:gdLst/>
                <a:ahLst/>
                <a:cxnLst/>
                <a:rect r="r" b="b" t="t" l="l"/>
                <a:pathLst>
                  <a:path h="554445" w="2691968">
                    <a:moveTo>
                      <a:pt x="0" y="0"/>
                    </a:moveTo>
                    <a:lnTo>
                      <a:pt x="2691968" y="0"/>
                    </a:lnTo>
                    <a:lnTo>
                      <a:pt x="2691968" y="554445"/>
                    </a:lnTo>
                    <a:lnTo>
                      <a:pt x="0" y="554445"/>
                    </a:lnTo>
                    <a:close/>
                  </a:path>
                </a:pathLst>
              </a:custGeom>
              <a:solidFill>
                <a:srgbClr val="0003F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95250"/>
                <a:ext cx="2691968" cy="459195"/>
              </a:xfrm>
              <a:prstGeom prst="rect">
                <a:avLst/>
              </a:prstGeom>
            </p:spPr>
            <p:txBody>
              <a:bodyPr anchor="ctr" rtlCol="false" tIns="21976" lIns="21976" bIns="21976" rIns="21976"/>
              <a:lstStyle/>
              <a:p>
                <a:pPr algn="ctr">
                  <a:lnSpc>
                    <a:spcPts val="1924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172048" y="3717850"/>
              <a:ext cx="4072362" cy="5897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63"/>
                </a:lnSpc>
              </a:pPr>
              <a:r>
                <a:rPr lang="en-US" sz="3295">
                  <a:solidFill>
                    <a:srgbClr val="EFEFEF"/>
                  </a:solidFill>
                  <a:latin typeface="TT Hoves"/>
                  <a:ea typeface="TT Hoves"/>
                  <a:cs typeface="TT Hoves"/>
                  <a:sym typeface="TT Hoves"/>
                </a:rPr>
                <a:t>Student Dataset</a:t>
              </a:r>
            </a:p>
          </p:txBody>
        </p:sp>
        <p:grpSp>
          <p:nvGrpSpPr>
            <p:cNvPr name="Group 11" id="11"/>
            <p:cNvGrpSpPr/>
            <p:nvPr/>
          </p:nvGrpSpPr>
          <p:grpSpPr>
            <a:xfrm rot="0">
              <a:off x="5146890" y="3519829"/>
              <a:ext cx="5024531" cy="909626"/>
              <a:chOff x="0" y="0"/>
              <a:chExt cx="3062607" cy="554445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3062607" cy="554445"/>
              </a:xfrm>
              <a:custGeom>
                <a:avLst/>
                <a:gdLst/>
                <a:ahLst/>
                <a:cxnLst/>
                <a:rect r="r" b="b" t="t" l="l"/>
                <a:pathLst>
                  <a:path h="554445" w="3062607">
                    <a:moveTo>
                      <a:pt x="0" y="0"/>
                    </a:moveTo>
                    <a:lnTo>
                      <a:pt x="3062607" y="0"/>
                    </a:lnTo>
                    <a:lnTo>
                      <a:pt x="3062607" y="554445"/>
                    </a:lnTo>
                    <a:lnTo>
                      <a:pt x="0" y="554445"/>
                    </a:lnTo>
                    <a:close/>
                  </a:path>
                </a:pathLst>
              </a:custGeom>
              <a:solidFill>
                <a:srgbClr val="0003FF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95250"/>
                <a:ext cx="3062607" cy="459195"/>
              </a:xfrm>
              <a:prstGeom prst="rect">
                <a:avLst/>
              </a:prstGeom>
            </p:spPr>
            <p:txBody>
              <a:bodyPr anchor="ctr" rtlCol="false" tIns="21976" lIns="21976" bIns="21976" rIns="21976"/>
              <a:lstStyle/>
              <a:p>
                <a:pPr algn="ctr">
                  <a:lnSpc>
                    <a:spcPts val="1924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5342626" y="3717850"/>
              <a:ext cx="4633058" cy="5897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63"/>
                </a:lnSpc>
              </a:pPr>
              <a:r>
                <a:rPr lang="en-US" sz="3295">
                  <a:solidFill>
                    <a:srgbClr val="EFEFEF"/>
                  </a:solidFill>
                  <a:latin typeface="TT Hoves"/>
                  <a:ea typeface="TT Hoves"/>
                  <a:cs typeface="TT Hoves"/>
                  <a:sym typeface="TT Hoves"/>
                </a:rPr>
                <a:t>IBM Cloud Project</a:t>
              </a:r>
            </a:p>
          </p:txBody>
        </p:sp>
        <p:grpSp>
          <p:nvGrpSpPr>
            <p:cNvPr name="Group 15" id="15"/>
            <p:cNvGrpSpPr/>
            <p:nvPr/>
          </p:nvGrpSpPr>
          <p:grpSpPr>
            <a:xfrm rot="0">
              <a:off x="10896962" y="3519829"/>
              <a:ext cx="6134046" cy="909626"/>
              <a:chOff x="0" y="0"/>
              <a:chExt cx="3738891" cy="554445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3738891" cy="554445"/>
              </a:xfrm>
              <a:custGeom>
                <a:avLst/>
                <a:gdLst/>
                <a:ahLst/>
                <a:cxnLst/>
                <a:rect r="r" b="b" t="t" l="l"/>
                <a:pathLst>
                  <a:path h="554445" w="3738891">
                    <a:moveTo>
                      <a:pt x="0" y="0"/>
                    </a:moveTo>
                    <a:lnTo>
                      <a:pt x="3738891" y="0"/>
                    </a:lnTo>
                    <a:lnTo>
                      <a:pt x="3738891" y="554445"/>
                    </a:lnTo>
                    <a:lnTo>
                      <a:pt x="0" y="554445"/>
                    </a:lnTo>
                    <a:close/>
                  </a:path>
                </a:pathLst>
              </a:custGeom>
              <a:solidFill>
                <a:srgbClr val="0003FF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95250"/>
                <a:ext cx="3738891" cy="459195"/>
              </a:xfrm>
              <a:prstGeom prst="rect">
                <a:avLst/>
              </a:prstGeom>
            </p:spPr>
            <p:txBody>
              <a:bodyPr anchor="ctr" rtlCol="false" tIns="21976" lIns="21976" bIns="21976" rIns="21976"/>
              <a:lstStyle/>
              <a:p>
                <a:pPr algn="ctr">
                  <a:lnSpc>
                    <a:spcPts val="1924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11135921" y="3717850"/>
              <a:ext cx="5656128" cy="5897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63"/>
                </a:lnSpc>
              </a:pPr>
              <a:r>
                <a:rPr lang="en-US" sz="3295">
                  <a:solidFill>
                    <a:srgbClr val="EFEFEF"/>
                  </a:solidFill>
                  <a:latin typeface="TT Hoves"/>
                  <a:ea typeface="TT Hoves"/>
                  <a:cs typeface="TT Hoves"/>
                  <a:sym typeface="TT Hoves"/>
                </a:rPr>
                <a:t>IBM Watsonx.ai AutoAI</a:t>
              </a:r>
            </a:p>
          </p:txBody>
        </p:sp>
        <p:grpSp>
          <p:nvGrpSpPr>
            <p:cNvPr name="Group 19" id="19"/>
            <p:cNvGrpSpPr/>
            <p:nvPr/>
          </p:nvGrpSpPr>
          <p:grpSpPr>
            <a:xfrm rot="0">
              <a:off x="17756549" y="3519829"/>
              <a:ext cx="5283637" cy="909626"/>
              <a:chOff x="0" y="0"/>
              <a:chExt cx="3220540" cy="554445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3220540" cy="554445"/>
              </a:xfrm>
              <a:custGeom>
                <a:avLst/>
                <a:gdLst/>
                <a:ahLst/>
                <a:cxnLst/>
                <a:rect r="r" b="b" t="t" l="l"/>
                <a:pathLst>
                  <a:path h="554445" w="3220540">
                    <a:moveTo>
                      <a:pt x="0" y="0"/>
                    </a:moveTo>
                    <a:lnTo>
                      <a:pt x="3220540" y="0"/>
                    </a:lnTo>
                    <a:lnTo>
                      <a:pt x="3220540" y="554445"/>
                    </a:lnTo>
                    <a:lnTo>
                      <a:pt x="0" y="554445"/>
                    </a:lnTo>
                    <a:close/>
                  </a:path>
                </a:pathLst>
              </a:custGeom>
              <a:solidFill>
                <a:srgbClr val="0003F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95250"/>
                <a:ext cx="3220540" cy="459195"/>
              </a:xfrm>
              <a:prstGeom prst="rect">
                <a:avLst/>
              </a:prstGeom>
            </p:spPr>
            <p:txBody>
              <a:bodyPr anchor="ctr" rtlCol="false" tIns="21976" lIns="21976" bIns="21976" rIns="21976"/>
              <a:lstStyle/>
              <a:p>
                <a:pPr algn="ctr">
                  <a:lnSpc>
                    <a:spcPts val="1924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17962379" y="3717850"/>
              <a:ext cx="4871977" cy="5897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63"/>
                </a:lnSpc>
              </a:pPr>
              <a:r>
                <a:rPr lang="en-US" sz="3295">
                  <a:solidFill>
                    <a:srgbClr val="EFEFEF"/>
                  </a:solidFill>
                  <a:latin typeface="TT Hoves"/>
                  <a:ea typeface="TT Hoves"/>
                  <a:cs typeface="TT Hoves"/>
                  <a:sym typeface="TT Hoves"/>
                </a:rPr>
                <a:t>Data Preprocessing</a:t>
              </a:r>
            </a:p>
          </p:txBody>
        </p:sp>
        <p:grpSp>
          <p:nvGrpSpPr>
            <p:cNvPr name="Group 23" id="23"/>
            <p:cNvGrpSpPr/>
            <p:nvPr/>
          </p:nvGrpSpPr>
          <p:grpSpPr>
            <a:xfrm rot="0">
              <a:off x="17485732" y="5112478"/>
              <a:ext cx="5465868" cy="909626"/>
              <a:chOff x="0" y="0"/>
              <a:chExt cx="3331615" cy="554445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3331616" cy="554445"/>
              </a:xfrm>
              <a:custGeom>
                <a:avLst/>
                <a:gdLst/>
                <a:ahLst/>
                <a:cxnLst/>
                <a:rect r="r" b="b" t="t" l="l"/>
                <a:pathLst>
                  <a:path h="554445" w="3331616">
                    <a:moveTo>
                      <a:pt x="0" y="0"/>
                    </a:moveTo>
                    <a:lnTo>
                      <a:pt x="3331616" y="0"/>
                    </a:lnTo>
                    <a:lnTo>
                      <a:pt x="3331616" y="554445"/>
                    </a:lnTo>
                    <a:lnTo>
                      <a:pt x="0" y="554445"/>
                    </a:lnTo>
                    <a:close/>
                  </a:path>
                </a:pathLst>
              </a:custGeom>
              <a:solidFill>
                <a:srgbClr val="0003FF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95250"/>
                <a:ext cx="3331615" cy="459195"/>
              </a:xfrm>
              <a:prstGeom prst="rect">
                <a:avLst/>
              </a:prstGeom>
            </p:spPr>
            <p:txBody>
              <a:bodyPr anchor="ctr" rtlCol="false" tIns="21976" lIns="21976" bIns="21976" rIns="21976"/>
              <a:lstStyle/>
              <a:p>
                <a:pPr algn="ctr">
                  <a:lnSpc>
                    <a:spcPts val="1924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17698661" y="5310498"/>
              <a:ext cx="5040009" cy="5897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63"/>
                </a:lnSpc>
              </a:pPr>
              <a:r>
                <a:rPr lang="en-US" sz="3295">
                  <a:solidFill>
                    <a:srgbClr val="EFEFEF"/>
                  </a:solidFill>
                  <a:latin typeface="TT Hoves"/>
                  <a:ea typeface="TT Hoves"/>
                  <a:cs typeface="TT Hoves"/>
                  <a:sym typeface="TT Hoves"/>
                </a:rPr>
                <a:t>Feature Engineering</a:t>
              </a:r>
            </a:p>
          </p:txBody>
        </p:sp>
        <p:grpSp>
          <p:nvGrpSpPr>
            <p:cNvPr name="Group 27" id="27"/>
            <p:cNvGrpSpPr/>
            <p:nvPr/>
          </p:nvGrpSpPr>
          <p:grpSpPr>
            <a:xfrm rot="0">
              <a:off x="6439272" y="5112478"/>
              <a:ext cx="5556983" cy="909626"/>
              <a:chOff x="0" y="0"/>
              <a:chExt cx="3387153" cy="554445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3387153" cy="554445"/>
              </a:xfrm>
              <a:custGeom>
                <a:avLst/>
                <a:gdLst/>
                <a:ahLst/>
                <a:cxnLst/>
                <a:rect r="r" b="b" t="t" l="l"/>
                <a:pathLst>
                  <a:path h="554445" w="3387153">
                    <a:moveTo>
                      <a:pt x="0" y="0"/>
                    </a:moveTo>
                    <a:lnTo>
                      <a:pt x="3387153" y="0"/>
                    </a:lnTo>
                    <a:lnTo>
                      <a:pt x="3387153" y="554445"/>
                    </a:lnTo>
                    <a:lnTo>
                      <a:pt x="0" y="554445"/>
                    </a:lnTo>
                    <a:close/>
                  </a:path>
                </a:pathLst>
              </a:custGeom>
              <a:solidFill>
                <a:srgbClr val="0003FF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95250"/>
                <a:ext cx="3387153" cy="459195"/>
              </a:xfrm>
              <a:prstGeom prst="rect">
                <a:avLst/>
              </a:prstGeom>
            </p:spPr>
            <p:txBody>
              <a:bodyPr anchor="ctr" rtlCol="false" tIns="21976" lIns="21976" bIns="21976" rIns="21976"/>
              <a:lstStyle/>
              <a:p>
                <a:pPr algn="ctr">
                  <a:lnSpc>
                    <a:spcPts val="1924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6655751" y="5310498"/>
              <a:ext cx="5124025" cy="5897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63"/>
                </a:lnSpc>
              </a:pPr>
              <a:r>
                <a:rPr lang="en-US" sz="3295">
                  <a:solidFill>
                    <a:srgbClr val="EFEFEF"/>
                  </a:solidFill>
                  <a:latin typeface="TT Hoves"/>
                  <a:ea typeface="TT Hoves"/>
                  <a:cs typeface="TT Hoves"/>
                  <a:sym typeface="TT Hoves"/>
                </a:rPr>
                <a:t>Pipeline Comparison</a:t>
              </a:r>
            </a:p>
          </p:txBody>
        </p:sp>
        <p:grpSp>
          <p:nvGrpSpPr>
            <p:cNvPr name="Group 31" id="31"/>
            <p:cNvGrpSpPr/>
            <p:nvPr/>
          </p:nvGrpSpPr>
          <p:grpSpPr>
            <a:xfrm rot="0">
              <a:off x="12721796" y="5112478"/>
              <a:ext cx="4038395" cy="909626"/>
              <a:chOff x="0" y="0"/>
              <a:chExt cx="2461527" cy="554445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2461527" cy="554445"/>
              </a:xfrm>
              <a:custGeom>
                <a:avLst/>
                <a:gdLst/>
                <a:ahLst/>
                <a:cxnLst/>
                <a:rect r="r" b="b" t="t" l="l"/>
                <a:pathLst>
                  <a:path h="554445" w="2461527">
                    <a:moveTo>
                      <a:pt x="0" y="0"/>
                    </a:moveTo>
                    <a:lnTo>
                      <a:pt x="2461527" y="0"/>
                    </a:lnTo>
                    <a:lnTo>
                      <a:pt x="2461527" y="554445"/>
                    </a:lnTo>
                    <a:lnTo>
                      <a:pt x="0" y="554445"/>
                    </a:lnTo>
                    <a:close/>
                  </a:path>
                </a:pathLst>
              </a:custGeom>
              <a:solidFill>
                <a:srgbClr val="0003F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95250"/>
                <a:ext cx="2461527" cy="459195"/>
              </a:xfrm>
              <a:prstGeom prst="rect">
                <a:avLst/>
              </a:prstGeom>
            </p:spPr>
            <p:txBody>
              <a:bodyPr anchor="ctr" rtlCol="false" tIns="21976" lIns="21976" bIns="21976" rIns="21976"/>
              <a:lstStyle/>
              <a:p>
                <a:pPr algn="ctr">
                  <a:lnSpc>
                    <a:spcPts val="1924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12879116" y="5310498"/>
              <a:ext cx="3723754" cy="5897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63"/>
                </a:lnSpc>
              </a:pPr>
              <a:r>
                <a:rPr lang="en-US" sz="3295">
                  <a:solidFill>
                    <a:srgbClr val="EFEFEF"/>
                  </a:solidFill>
                  <a:latin typeface="TT Hoves"/>
                  <a:ea typeface="TT Hoves"/>
                  <a:cs typeface="TT Hoves"/>
                  <a:sym typeface="TT Hoves"/>
                </a:rPr>
                <a:t>Model Training</a:t>
              </a:r>
            </a:p>
          </p:txBody>
        </p:sp>
        <p:grpSp>
          <p:nvGrpSpPr>
            <p:cNvPr name="Group 35" id="35"/>
            <p:cNvGrpSpPr/>
            <p:nvPr/>
          </p:nvGrpSpPr>
          <p:grpSpPr>
            <a:xfrm rot="0">
              <a:off x="0" y="5112478"/>
              <a:ext cx="5708842" cy="909626"/>
              <a:chOff x="0" y="0"/>
              <a:chExt cx="3479716" cy="554445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3479716" cy="554445"/>
              </a:xfrm>
              <a:custGeom>
                <a:avLst/>
                <a:gdLst/>
                <a:ahLst/>
                <a:cxnLst/>
                <a:rect r="r" b="b" t="t" l="l"/>
                <a:pathLst>
                  <a:path h="554445" w="3479716">
                    <a:moveTo>
                      <a:pt x="0" y="0"/>
                    </a:moveTo>
                    <a:lnTo>
                      <a:pt x="3479716" y="0"/>
                    </a:lnTo>
                    <a:lnTo>
                      <a:pt x="3479716" y="554445"/>
                    </a:lnTo>
                    <a:lnTo>
                      <a:pt x="0" y="554445"/>
                    </a:lnTo>
                    <a:close/>
                  </a:path>
                </a:pathLst>
              </a:custGeom>
              <a:solidFill>
                <a:srgbClr val="0003FF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95250"/>
                <a:ext cx="3479716" cy="459195"/>
              </a:xfrm>
              <a:prstGeom prst="rect">
                <a:avLst/>
              </a:prstGeom>
            </p:spPr>
            <p:txBody>
              <a:bodyPr anchor="ctr" rtlCol="false" tIns="21976" lIns="21976" bIns="21976" rIns="21976"/>
              <a:lstStyle/>
              <a:p>
                <a:pPr algn="ctr">
                  <a:lnSpc>
                    <a:spcPts val="1924"/>
                  </a:lnSpc>
                </a:pPr>
              </a:p>
            </p:txBody>
          </p:sp>
        </p:grpSp>
        <p:sp>
          <p:nvSpPr>
            <p:cNvPr name="TextBox 38" id="38"/>
            <p:cNvSpPr txBox="true"/>
            <p:nvPr/>
          </p:nvSpPr>
          <p:spPr>
            <a:xfrm rot="0">
              <a:off x="222395" y="5310498"/>
              <a:ext cx="5264053" cy="5897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63"/>
                </a:lnSpc>
              </a:pPr>
              <a:r>
                <a:rPr lang="en-US" sz="3295">
                  <a:solidFill>
                    <a:srgbClr val="EFEFEF"/>
                  </a:solidFill>
                  <a:latin typeface="TT Hoves"/>
                  <a:ea typeface="TT Hoves"/>
                  <a:cs typeface="TT Hoves"/>
                  <a:sym typeface="TT Hoves"/>
                </a:rPr>
                <a:t>Best Model Selection</a:t>
              </a:r>
            </a:p>
          </p:txBody>
        </p:sp>
        <p:grpSp>
          <p:nvGrpSpPr>
            <p:cNvPr name="Group 39" id="39"/>
            <p:cNvGrpSpPr/>
            <p:nvPr/>
          </p:nvGrpSpPr>
          <p:grpSpPr>
            <a:xfrm rot="0">
              <a:off x="0" y="6705126"/>
              <a:ext cx="5101406" cy="909626"/>
              <a:chOff x="0" y="0"/>
              <a:chExt cx="3109465" cy="554445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3109465" cy="554445"/>
              </a:xfrm>
              <a:custGeom>
                <a:avLst/>
                <a:gdLst/>
                <a:ahLst/>
                <a:cxnLst/>
                <a:rect r="r" b="b" t="t" l="l"/>
                <a:pathLst>
                  <a:path h="554445" w="3109465">
                    <a:moveTo>
                      <a:pt x="0" y="0"/>
                    </a:moveTo>
                    <a:lnTo>
                      <a:pt x="3109465" y="0"/>
                    </a:lnTo>
                    <a:lnTo>
                      <a:pt x="3109465" y="554445"/>
                    </a:lnTo>
                    <a:lnTo>
                      <a:pt x="0" y="554445"/>
                    </a:lnTo>
                    <a:close/>
                  </a:path>
                </a:pathLst>
              </a:custGeom>
              <a:solidFill>
                <a:srgbClr val="0003FF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95250"/>
                <a:ext cx="3109465" cy="459195"/>
              </a:xfrm>
              <a:prstGeom prst="rect">
                <a:avLst/>
              </a:prstGeom>
            </p:spPr>
            <p:txBody>
              <a:bodyPr anchor="ctr" rtlCol="false" tIns="21976" lIns="21976" bIns="21976" rIns="21976"/>
              <a:lstStyle/>
              <a:p>
                <a:pPr algn="ctr">
                  <a:lnSpc>
                    <a:spcPts val="1924"/>
                  </a:lnSpc>
                </a:pPr>
              </a:p>
            </p:txBody>
          </p:sp>
        </p:grpSp>
        <p:sp>
          <p:nvSpPr>
            <p:cNvPr name="TextBox 42" id="42"/>
            <p:cNvSpPr txBox="true"/>
            <p:nvPr/>
          </p:nvSpPr>
          <p:spPr>
            <a:xfrm rot="0">
              <a:off x="198731" y="6903146"/>
              <a:ext cx="4703944" cy="5897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63"/>
                </a:lnSpc>
              </a:pPr>
              <a:r>
                <a:rPr lang="en-US" sz="3295">
                  <a:solidFill>
                    <a:srgbClr val="EFEFEF"/>
                  </a:solidFill>
                  <a:latin typeface="TT Hoves"/>
                  <a:ea typeface="TT Hoves"/>
                  <a:cs typeface="TT Hoves"/>
                  <a:sym typeface="TT Hoves"/>
                </a:rPr>
                <a:t>Cloud Deployment</a:t>
              </a:r>
            </a:p>
          </p:txBody>
        </p:sp>
        <p:grpSp>
          <p:nvGrpSpPr>
            <p:cNvPr name="Group 43" id="43"/>
            <p:cNvGrpSpPr/>
            <p:nvPr/>
          </p:nvGrpSpPr>
          <p:grpSpPr>
            <a:xfrm rot="0">
              <a:off x="5831837" y="6705126"/>
              <a:ext cx="8168954" cy="909626"/>
              <a:chOff x="0" y="0"/>
              <a:chExt cx="4979230" cy="554445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4979230" cy="554445"/>
              </a:xfrm>
              <a:custGeom>
                <a:avLst/>
                <a:gdLst/>
                <a:ahLst/>
                <a:cxnLst/>
                <a:rect r="r" b="b" t="t" l="l"/>
                <a:pathLst>
                  <a:path h="554445" w="4979230">
                    <a:moveTo>
                      <a:pt x="0" y="0"/>
                    </a:moveTo>
                    <a:lnTo>
                      <a:pt x="4979230" y="0"/>
                    </a:lnTo>
                    <a:lnTo>
                      <a:pt x="4979230" y="554445"/>
                    </a:lnTo>
                    <a:lnTo>
                      <a:pt x="0" y="554445"/>
                    </a:lnTo>
                    <a:close/>
                  </a:path>
                </a:pathLst>
              </a:custGeom>
              <a:solidFill>
                <a:srgbClr val="0003FF"/>
              </a:solidFill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95250"/>
                <a:ext cx="4979230" cy="459195"/>
              </a:xfrm>
              <a:prstGeom prst="rect">
                <a:avLst/>
              </a:prstGeom>
            </p:spPr>
            <p:txBody>
              <a:bodyPr anchor="ctr" rtlCol="false" tIns="21976" lIns="21976" bIns="21976" rIns="21976"/>
              <a:lstStyle/>
              <a:p>
                <a:pPr algn="ctr">
                  <a:lnSpc>
                    <a:spcPts val="1924"/>
                  </a:lnSpc>
                </a:pPr>
              </a:p>
            </p:txBody>
          </p:sp>
        </p:grpSp>
        <p:sp>
          <p:nvSpPr>
            <p:cNvPr name="TextBox 46" id="46"/>
            <p:cNvSpPr txBox="true"/>
            <p:nvPr/>
          </p:nvSpPr>
          <p:spPr>
            <a:xfrm rot="0">
              <a:off x="6150068" y="6903146"/>
              <a:ext cx="7532492" cy="5897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63"/>
                </a:lnSpc>
              </a:pPr>
              <a:r>
                <a:rPr lang="en-US" sz="3295">
                  <a:solidFill>
                    <a:srgbClr val="EFEFEF"/>
                  </a:solidFill>
                  <a:latin typeface="TT Hoves"/>
                  <a:ea typeface="TT Hoves"/>
                  <a:cs typeface="TT Hoves"/>
                  <a:sym typeface="TT Hoves"/>
                </a:rPr>
                <a:t>Student Placement Prediction</a:t>
              </a:r>
            </a:p>
          </p:txBody>
        </p:sp>
        <p:sp>
          <p:nvSpPr>
            <p:cNvPr name="AutoShape 47" id="47"/>
            <p:cNvSpPr/>
            <p:nvPr/>
          </p:nvSpPr>
          <p:spPr>
            <a:xfrm>
              <a:off x="4466264" y="4006934"/>
              <a:ext cx="649939" cy="0"/>
            </a:xfrm>
            <a:prstGeom prst="line">
              <a:avLst/>
            </a:prstGeom>
            <a:ln cap="flat" w="48369">
              <a:solidFill>
                <a:srgbClr val="0003FF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48" id="48"/>
            <p:cNvSpPr/>
            <p:nvPr/>
          </p:nvSpPr>
          <p:spPr>
            <a:xfrm>
              <a:off x="10219592" y="4033212"/>
              <a:ext cx="649939" cy="0"/>
            </a:xfrm>
            <a:prstGeom prst="line">
              <a:avLst/>
            </a:prstGeom>
            <a:ln cap="flat" w="48369">
              <a:solidFill>
                <a:srgbClr val="0003FF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49" id="49"/>
            <p:cNvSpPr/>
            <p:nvPr/>
          </p:nvSpPr>
          <p:spPr>
            <a:xfrm>
              <a:off x="17070563" y="4033212"/>
              <a:ext cx="649939" cy="0"/>
            </a:xfrm>
            <a:prstGeom prst="line">
              <a:avLst/>
            </a:prstGeom>
            <a:ln cap="flat" w="48369">
              <a:solidFill>
                <a:srgbClr val="0003FF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50" id="50"/>
            <p:cNvSpPr/>
            <p:nvPr/>
          </p:nvSpPr>
          <p:spPr>
            <a:xfrm>
              <a:off x="20481876" y="4448219"/>
              <a:ext cx="0" cy="649939"/>
            </a:xfrm>
            <a:prstGeom prst="line">
              <a:avLst/>
            </a:prstGeom>
            <a:ln cap="flat" w="48369">
              <a:solidFill>
                <a:srgbClr val="0003FF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51" id="51"/>
            <p:cNvSpPr/>
            <p:nvPr/>
          </p:nvSpPr>
          <p:spPr>
            <a:xfrm flipH="true">
              <a:off x="16785011" y="5593568"/>
              <a:ext cx="649939" cy="0"/>
            </a:xfrm>
            <a:prstGeom prst="line">
              <a:avLst/>
            </a:prstGeom>
            <a:ln cap="flat" w="48369">
              <a:solidFill>
                <a:srgbClr val="0003FF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52" id="52"/>
            <p:cNvSpPr/>
            <p:nvPr/>
          </p:nvSpPr>
          <p:spPr>
            <a:xfrm flipH="true">
              <a:off x="12031441" y="5619846"/>
              <a:ext cx="649939" cy="0"/>
            </a:xfrm>
            <a:prstGeom prst="line">
              <a:avLst/>
            </a:prstGeom>
            <a:ln cap="flat" w="48369">
              <a:solidFill>
                <a:srgbClr val="0003FF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53" id="53"/>
            <p:cNvSpPr/>
            <p:nvPr/>
          </p:nvSpPr>
          <p:spPr>
            <a:xfrm flipH="true">
              <a:off x="5732129" y="5593568"/>
              <a:ext cx="649939" cy="0"/>
            </a:xfrm>
            <a:prstGeom prst="line">
              <a:avLst/>
            </a:prstGeom>
            <a:ln cap="flat" w="48369">
              <a:solidFill>
                <a:srgbClr val="0003FF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54" id="54"/>
            <p:cNvSpPr/>
            <p:nvPr/>
          </p:nvSpPr>
          <p:spPr>
            <a:xfrm>
              <a:off x="2633984" y="6047279"/>
              <a:ext cx="0" cy="649939"/>
            </a:xfrm>
            <a:prstGeom prst="line">
              <a:avLst/>
            </a:prstGeom>
            <a:ln cap="flat" w="48369">
              <a:solidFill>
                <a:srgbClr val="0003FF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55" id="55"/>
            <p:cNvSpPr/>
            <p:nvPr/>
          </p:nvSpPr>
          <p:spPr>
            <a:xfrm>
              <a:off x="5155620" y="7199785"/>
              <a:ext cx="649939" cy="0"/>
            </a:xfrm>
            <a:prstGeom prst="line">
              <a:avLst/>
            </a:prstGeom>
            <a:ln cap="flat" w="48369">
              <a:solidFill>
                <a:srgbClr val="0003FF"/>
              </a:solidFill>
              <a:prstDash val="solid"/>
              <a:headEnd type="none" len="sm" w="sm"/>
              <a:tailEnd type="triangle" len="med" w="lg"/>
            </a:ln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467971"/>
            <a:ext cx="9861714" cy="9485654"/>
            <a:chOff x="0" y="0"/>
            <a:chExt cx="13148951" cy="12647538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295275"/>
              <a:ext cx="13148951" cy="45689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880"/>
                </a:lnSpc>
              </a:pPr>
              <a:r>
                <a:rPr lang="en-US" b="true" sz="13278" spc="-624">
                  <a:solidFill>
                    <a:srgbClr val="000000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Dataset Description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113263"/>
              <a:ext cx="10276762" cy="7534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699"/>
                </a:lnSpc>
                <a:spcBef>
                  <a:spcPct val="0"/>
                </a:spcBef>
              </a:pPr>
              <a:r>
                <a:rPr lang="en-US" sz="1999" spc="119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Th</a:t>
              </a:r>
              <a:r>
                <a:rPr lang="en-US" sz="1999" spc="119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e project uses a structured CSV dataset containing student academic and skill-related information.</a:t>
              </a:r>
            </a:p>
            <a:p>
              <a:pPr algn="just" marL="0" indent="0" lvl="0">
                <a:lnSpc>
                  <a:spcPts val="2699"/>
                </a:lnSpc>
                <a:spcBef>
                  <a:spcPct val="0"/>
                </a:spcBef>
              </a:pPr>
              <a:r>
                <a:rPr lang="en-US" sz="1999" spc="119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Dataset Information</a:t>
              </a:r>
            </a:p>
            <a:p>
              <a:pPr algn="just" marL="0" indent="0" lvl="0">
                <a:lnSpc>
                  <a:spcPts val="2699"/>
                </a:lnSpc>
                <a:spcBef>
                  <a:spcPct val="0"/>
                </a:spcBef>
              </a:pPr>
              <a:r>
                <a:rPr lang="en-US" sz="1999" spc="119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Dataset Format : CSV</a:t>
              </a:r>
            </a:p>
            <a:p>
              <a:pPr algn="just" marL="0" indent="0" lvl="0">
                <a:lnSpc>
                  <a:spcPts val="2699"/>
                </a:lnSpc>
                <a:spcBef>
                  <a:spcPct val="0"/>
                </a:spcBef>
              </a:pPr>
              <a:r>
                <a:rPr lang="en-US" sz="1999" spc="119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Number of Records : 1000</a:t>
              </a:r>
            </a:p>
            <a:p>
              <a:pPr algn="just" marL="0" indent="0" lvl="0">
                <a:lnSpc>
                  <a:spcPts val="2699"/>
                </a:lnSpc>
                <a:spcBef>
                  <a:spcPct val="0"/>
                </a:spcBef>
              </a:pPr>
              <a:r>
                <a:rPr lang="en-US" sz="1999" spc="119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Number of Features : 11</a:t>
              </a:r>
            </a:p>
            <a:p>
              <a:pPr algn="just" marL="0" indent="0" lvl="0">
                <a:lnSpc>
                  <a:spcPts val="2699"/>
                </a:lnSpc>
                <a:spcBef>
                  <a:spcPct val="0"/>
                </a:spcBef>
              </a:pPr>
              <a:r>
                <a:rPr lang="en-US" sz="1999" spc="119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Prediction Column : Placement</a:t>
              </a:r>
            </a:p>
            <a:p>
              <a:pPr algn="just" marL="0" indent="0" lvl="0">
                <a:lnSpc>
                  <a:spcPts val="2699"/>
                </a:lnSpc>
                <a:spcBef>
                  <a:spcPct val="0"/>
                </a:spcBef>
              </a:pPr>
              <a:r>
                <a:rPr lang="en-US" sz="1999" spc="119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Features Used</a:t>
              </a:r>
            </a:p>
            <a:p>
              <a:pPr algn="just" marL="0" indent="0" lvl="0">
                <a:lnSpc>
                  <a:spcPts val="2699"/>
                </a:lnSpc>
                <a:spcBef>
                  <a:spcPct val="0"/>
                </a:spcBef>
              </a:pPr>
              <a:r>
                <a:rPr lang="en-US" sz="1999" spc="119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• Attendance</a:t>
              </a:r>
            </a:p>
            <a:p>
              <a:pPr algn="just" marL="0" indent="0" lvl="0">
                <a:lnSpc>
                  <a:spcPts val="2699"/>
                </a:lnSpc>
                <a:spcBef>
                  <a:spcPct val="0"/>
                </a:spcBef>
              </a:pPr>
              <a:r>
                <a:rPr lang="en-US" sz="1999" spc="119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• Study Hours</a:t>
              </a:r>
            </a:p>
            <a:p>
              <a:pPr algn="just" marL="0" indent="0" lvl="0">
                <a:lnSpc>
                  <a:spcPts val="2699"/>
                </a:lnSpc>
                <a:spcBef>
                  <a:spcPct val="0"/>
                </a:spcBef>
              </a:pPr>
              <a:r>
                <a:rPr lang="en-US" sz="1999" spc="119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• CGPA</a:t>
              </a:r>
            </a:p>
            <a:p>
              <a:pPr algn="just" marL="0" indent="0" lvl="0">
                <a:lnSpc>
                  <a:spcPts val="2699"/>
                </a:lnSpc>
                <a:spcBef>
                  <a:spcPct val="0"/>
                </a:spcBef>
              </a:pPr>
              <a:r>
                <a:rPr lang="en-US" sz="1999" spc="119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• Projects</a:t>
              </a:r>
            </a:p>
            <a:p>
              <a:pPr algn="just" marL="0" indent="0" lvl="0">
                <a:lnSpc>
                  <a:spcPts val="2699"/>
                </a:lnSpc>
                <a:spcBef>
                  <a:spcPct val="0"/>
                </a:spcBef>
              </a:pPr>
              <a:r>
                <a:rPr lang="en-US" sz="1999" spc="119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• Internship</a:t>
              </a:r>
            </a:p>
            <a:p>
              <a:pPr algn="just" marL="0" indent="0" lvl="0">
                <a:lnSpc>
                  <a:spcPts val="2699"/>
                </a:lnSpc>
                <a:spcBef>
                  <a:spcPct val="0"/>
                </a:spcBef>
              </a:pPr>
              <a:r>
                <a:rPr lang="en-US" sz="1999" spc="119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• Certifications</a:t>
              </a:r>
            </a:p>
            <a:p>
              <a:pPr algn="just" marL="0" indent="0" lvl="0">
                <a:lnSpc>
                  <a:spcPts val="2699"/>
                </a:lnSpc>
                <a:spcBef>
                  <a:spcPct val="0"/>
                </a:spcBef>
              </a:pPr>
              <a:r>
                <a:rPr lang="en-US" sz="1999" spc="119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• Aptitude Score</a:t>
              </a:r>
            </a:p>
            <a:p>
              <a:pPr algn="just" marL="0" indent="0" lvl="0">
                <a:lnSpc>
                  <a:spcPts val="2699"/>
                </a:lnSpc>
                <a:spcBef>
                  <a:spcPct val="0"/>
                </a:spcBef>
              </a:pPr>
              <a:r>
                <a:rPr lang="en-US" sz="1999" spc="119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• Communication Skills</a:t>
              </a:r>
            </a:p>
            <a:p>
              <a:pPr algn="just" marL="0" indent="0" lvl="0">
                <a:lnSpc>
                  <a:spcPts val="2699"/>
                </a:lnSpc>
                <a:spcBef>
                  <a:spcPct val="0"/>
                </a:spcBef>
              </a:pPr>
              <a:r>
                <a:rPr lang="en-US" sz="1999" spc="119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• Placement Status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622928" y="2344500"/>
            <a:ext cx="8361331" cy="10032756"/>
            <a:chOff x="0" y="0"/>
            <a:chExt cx="2202161" cy="26423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02161" cy="2642372"/>
            </a:xfrm>
            <a:custGeom>
              <a:avLst/>
              <a:gdLst/>
              <a:ahLst/>
              <a:cxnLst/>
              <a:rect r="r" b="b" t="t" l="l"/>
              <a:pathLst>
                <a:path h="2642372" w="2202161">
                  <a:moveTo>
                    <a:pt x="0" y="0"/>
                  </a:moveTo>
                  <a:lnTo>
                    <a:pt x="2202161" y="0"/>
                  </a:lnTo>
                  <a:lnTo>
                    <a:pt x="2202161" y="2642372"/>
                  </a:lnTo>
                  <a:lnTo>
                    <a:pt x="0" y="2642372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202161" cy="26995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728095" y="2492266"/>
            <a:ext cx="7474180" cy="3386678"/>
          </a:xfrm>
          <a:custGeom>
            <a:avLst/>
            <a:gdLst/>
            <a:ahLst/>
            <a:cxnLst/>
            <a:rect r="r" b="b" t="t" l="l"/>
            <a:pathLst>
              <a:path h="3386678" w="7474180">
                <a:moveTo>
                  <a:pt x="0" y="0"/>
                </a:moveTo>
                <a:lnTo>
                  <a:pt x="7474180" y="0"/>
                </a:lnTo>
                <a:lnTo>
                  <a:pt x="7474180" y="3386678"/>
                </a:lnTo>
                <a:lnTo>
                  <a:pt x="0" y="33866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7003" r="0" b="-6999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719168" y="6975212"/>
            <a:ext cx="6265091" cy="483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14"/>
              </a:lnSpc>
            </a:pPr>
            <a:r>
              <a:rPr lang="en-US" b="true" sz="37888" spc="-1856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04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42485" y="1679103"/>
            <a:ext cx="8445056" cy="2944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73"/>
              </a:lnSpc>
            </a:pPr>
            <a:r>
              <a:rPr lang="en-US" b="true" sz="12696" spc="-622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IBM Cloud Project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93475" y="5596841"/>
            <a:ext cx="7994525" cy="5804934"/>
            <a:chOff x="0" y="0"/>
            <a:chExt cx="2105554" cy="152887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05554" cy="1528872"/>
            </a:xfrm>
            <a:custGeom>
              <a:avLst/>
              <a:gdLst/>
              <a:ahLst/>
              <a:cxnLst/>
              <a:rect r="r" b="b" t="t" l="l"/>
              <a:pathLst>
                <a:path h="1528872" w="2105554">
                  <a:moveTo>
                    <a:pt x="0" y="0"/>
                  </a:moveTo>
                  <a:lnTo>
                    <a:pt x="2105554" y="0"/>
                  </a:lnTo>
                  <a:lnTo>
                    <a:pt x="2105554" y="1528872"/>
                  </a:lnTo>
                  <a:lnTo>
                    <a:pt x="0" y="1528872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2105554" cy="15860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9555412" y="-7939543"/>
            <a:ext cx="14102688" cy="14102688"/>
          </a:xfrm>
          <a:custGeom>
            <a:avLst/>
            <a:gdLst/>
            <a:ahLst/>
            <a:cxnLst/>
            <a:rect r="r" b="b" t="t" l="l"/>
            <a:pathLst>
              <a:path h="14102688" w="14102688">
                <a:moveTo>
                  <a:pt x="0" y="0"/>
                </a:moveTo>
                <a:lnTo>
                  <a:pt x="14102688" y="0"/>
                </a:lnTo>
                <a:lnTo>
                  <a:pt x="14102688" y="14102689"/>
                </a:lnTo>
                <a:lnTo>
                  <a:pt x="0" y="141026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393693" y="5735359"/>
            <a:ext cx="7794090" cy="3522941"/>
          </a:xfrm>
          <a:custGeom>
            <a:avLst/>
            <a:gdLst/>
            <a:ahLst/>
            <a:cxnLst/>
            <a:rect r="r" b="b" t="t" l="l"/>
            <a:pathLst>
              <a:path h="3522941" w="7794090">
                <a:moveTo>
                  <a:pt x="0" y="0"/>
                </a:moveTo>
                <a:lnTo>
                  <a:pt x="7794089" y="0"/>
                </a:lnTo>
                <a:lnTo>
                  <a:pt x="7794089" y="3522941"/>
                </a:lnTo>
                <a:lnTo>
                  <a:pt x="0" y="35229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7024" r="0" b="-7283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842485" y="5187342"/>
            <a:ext cx="8538176" cy="3811080"/>
            <a:chOff x="0" y="0"/>
            <a:chExt cx="11384234" cy="5081441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6830099" y="1210734"/>
              <a:ext cx="4554135" cy="19415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63"/>
                </a:lnSpc>
              </a:pPr>
              <a:r>
                <a:rPr lang="en-US" sz="1899">
                  <a:solidFill>
                    <a:srgbClr val="343434"/>
                  </a:solidFill>
                  <a:latin typeface="TT Hoves"/>
                  <a:ea typeface="TT Hoves"/>
                  <a:cs typeface="TT Hoves"/>
                  <a:sym typeface="TT Hoves"/>
                </a:rPr>
                <a:t>•</a:t>
              </a:r>
              <a:r>
                <a:rPr lang="en-US" sz="1899">
                  <a:solidFill>
                    <a:srgbClr val="343434"/>
                  </a:solidFill>
                  <a:latin typeface="TT Hoves"/>
                  <a:ea typeface="TT Hoves"/>
                  <a:cs typeface="TT Hoves"/>
                  <a:sym typeface="TT Hoves"/>
                </a:rPr>
                <a:t> Secure Cloud Environment</a:t>
              </a:r>
            </a:p>
            <a:p>
              <a:pPr algn="l">
                <a:lnSpc>
                  <a:spcPts val="2963"/>
                </a:lnSpc>
              </a:pPr>
              <a:r>
                <a:rPr lang="en-US" sz="1899">
                  <a:solidFill>
                    <a:srgbClr val="343434"/>
                  </a:solidFill>
                  <a:latin typeface="TT Hoves"/>
                  <a:ea typeface="TT Hoves"/>
                  <a:cs typeface="TT Hoves"/>
                  <a:sym typeface="TT Hoves"/>
                </a:rPr>
                <a:t>• Easy Dataset Management</a:t>
              </a:r>
            </a:p>
            <a:p>
              <a:pPr algn="l">
                <a:lnSpc>
                  <a:spcPts val="2963"/>
                </a:lnSpc>
              </a:pPr>
              <a:r>
                <a:rPr lang="en-US" sz="1899">
                  <a:solidFill>
                    <a:srgbClr val="343434"/>
                  </a:solidFill>
                  <a:latin typeface="TT Hoves"/>
                  <a:ea typeface="TT Hoves"/>
                  <a:cs typeface="TT Hoves"/>
                  <a:sym typeface="TT Hoves"/>
                </a:rPr>
                <a:t>• Integrated Machine Learning Services</a:t>
              </a:r>
            </a:p>
          </p:txBody>
        </p:sp>
        <p:grpSp>
          <p:nvGrpSpPr>
            <p:cNvPr name="Group 10" id="10"/>
            <p:cNvGrpSpPr/>
            <p:nvPr/>
          </p:nvGrpSpPr>
          <p:grpSpPr>
            <a:xfrm rot="0">
              <a:off x="0" y="177068"/>
              <a:ext cx="369138" cy="326699"/>
              <a:chOff x="0" y="0"/>
              <a:chExt cx="92679" cy="82024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92679" cy="82024"/>
              </a:xfrm>
              <a:custGeom>
                <a:avLst/>
                <a:gdLst/>
                <a:ahLst/>
                <a:cxnLst/>
                <a:rect r="r" b="b" t="t" l="l"/>
                <a:pathLst>
                  <a:path h="82024" w="92679">
                    <a:moveTo>
                      <a:pt x="0" y="0"/>
                    </a:moveTo>
                    <a:lnTo>
                      <a:pt x="92679" y="0"/>
                    </a:lnTo>
                    <a:lnTo>
                      <a:pt x="92679" y="82024"/>
                    </a:lnTo>
                    <a:lnTo>
                      <a:pt x="0" y="82024"/>
                    </a:lnTo>
                    <a:close/>
                  </a:path>
                </a:pathLst>
              </a:custGeom>
              <a:solidFill>
                <a:srgbClr val="0003F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85725"/>
                <a:ext cx="92679" cy="820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25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6268394" y="177068"/>
              <a:ext cx="369138" cy="326699"/>
              <a:chOff x="0" y="0"/>
              <a:chExt cx="92679" cy="82024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92679" cy="82024"/>
              </a:xfrm>
              <a:custGeom>
                <a:avLst/>
                <a:gdLst/>
                <a:ahLst/>
                <a:cxnLst/>
                <a:rect r="r" b="b" t="t" l="l"/>
                <a:pathLst>
                  <a:path h="82024" w="92679">
                    <a:moveTo>
                      <a:pt x="0" y="0"/>
                    </a:moveTo>
                    <a:lnTo>
                      <a:pt x="92679" y="0"/>
                    </a:lnTo>
                    <a:lnTo>
                      <a:pt x="92679" y="82024"/>
                    </a:lnTo>
                    <a:lnTo>
                      <a:pt x="0" y="82024"/>
                    </a:lnTo>
                    <a:close/>
                  </a:path>
                </a:pathLst>
              </a:custGeom>
              <a:solidFill>
                <a:srgbClr val="0003F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85725"/>
                <a:ext cx="92679" cy="820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25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619418" y="76200"/>
              <a:ext cx="4647994" cy="17949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5150"/>
                </a:lnSpc>
              </a:pPr>
              <a:r>
                <a:rPr lang="en-US" b="true" sz="5000">
                  <a:solidFill>
                    <a:srgbClr val="343434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Activities Performed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619418" y="2149264"/>
              <a:ext cx="5233032" cy="29321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63"/>
                </a:lnSpc>
              </a:pPr>
              <a:r>
                <a:rPr lang="en-US" sz="1899">
                  <a:solidFill>
                    <a:srgbClr val="343434"/>
                  </a:solidFill>
                  <a:latin typeface="TT Hoves"/>
                  <a:ea typeface="TT Hoves"/>
                  <a:cs typeface="TT Hoves"/>
                  <a:sym typeface="TT Hoves"/>
                </a:rPr>
                <a:t>• Creat</a:t>
              </a:r>
              <a:r>
                <a:rPr lang="en-US" sz="1899">
                  <a:solidFill>
                    <a:srgbClr val="343434"/>
                  </a:solidFill>
                  <a:latin typeface="TT Hoves"/>
                  <a:ea typeface="TT Hoves"/>
                  <a:cs typeface="TT Hoves"/>
                  <a:sym typeface="TT Hoves"/>
                </a:rPr>
                <a:t>ed IBM Cloud Project</a:t>
              </a:r>
            </a:p>
            <a:p>
              <a:pPr algn="l">
                <a:lnSpc>
                  <a:spcPts val="2963"/>
                </a:lnSpc>
              </a:pPr>
              <a:r>
                <a:rPr lang="en-US" sz="1899">
                  <a:solidFill>
                    <a:srgbClr val="343434"/>
                  </a:solidFill>
                  <a:latin typeface="TT Hoves"/>
                  <a:ea typeface="TT Hoves"/>
                  <a:cs typeface="TT Hoves"/>
                  <a:sym typeface="TT Hoves"/>
                </a:rPr>
                <a:t>• Uploaded Dataset</a:t>
              </a:r>
            </a:p>
            <a:p>
              <a:pPr algn="l">
                <a:lnSpc>
                  <a:spcPts val="2963"/>
                </a:lnSpc>
              </a:pPr>
              <a:r>
                <a:rPr lang="en-US" sz="1899">
                  <a:solidFill>
                    <a:srgbClr val="343434"/>
                  </a:solidFill>
                  <a:latin typeface="TT Hoves"/>
                  <a:ea typeface="TT Hoves"/>
                  <a:cs typeface="TT Hoves"/>
                  <a:sym typeface="TT Hoves"/>
                </a:rPr>
                <a:t>• Configured IBM Watsonx.ai AutoAI</a:t>
              </a:r>
            </a:p>
            <a:p>
              <a:pPr algn="l">
                <a:lnSpc>
                  <a:spcPts val="2963"/>
                </a:lnSpc>
              </a:pPr>
              <a:r>
                <a:rPr lang="en-US" sz="1899">
                  <a:solidFill>
                    <a:srgbClr val="343434"/>
                  </a:solidFill>
                  <a:latin typeface="TT Hoves"/>
                  <a:ea typeface="TT Hoves"/>
                  <a:cs typeface="TT Hoves"/>
                  <a:sym typeface="TT Hoves"/>
                </a:rPr>
                <a:t>• Managed Project Assets</a:t>
              </a:r>
            </a:p>
            <a:p>
              <a:pPr algn="l">
                <a:lnSpc>
                  <a:spcPts val="2963"/>
                </a:lnSpc>
              </a:pPr>
              <a:r>
                <a:rPr lang="en-US" sz="1899">
                  <a:solidFill>
                    <a:srgbClr val="343434"/>
                  </a:solidFill>
                  <a:latin typeface="TT Hoves"/>
                  <a:ea typeface="TT Hoves"/>
                  <a:cs typeface="TT Hoves"/>
                  <a:sym typeface="TT Hoves"/>
                </a:rPr>
                <a:t>• Created Machine Learning Experiment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6830099" y="76200"/>
              <a:ext cx="3702389" cy="9313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5150"/>
                </a:lnSpc>
              </a:pPr>
              <a:r>
                <a:rPr lang="en-US" b="true" sz="5000">
                  <a:solidFill>
                    <a:srgbClr val="343434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Benefits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2425740" y="-88099"/>
            <a:ext cx="6393149" cy="4116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64"/>
              </a:lnSpc>
            </a:pPr>
            <a:r>
              <a:rPr lang="en-US" b="true" sz="32302" spc="-1582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05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484590" y="9464838"/>
            <a:ext cx="140626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501757" y="5940012"/>
            <a:ext cx="11627167" cy="11627167"/>
          </a:xfrm>
          <a:custGeom>
            <a:avLst/>
            <a:gdLst/>
            <a:ahLst/>
            <a:cxnLst/>
            <a:rect r="r" b="b" t="t" l="l"/>
            <a:pathLst>
              <a:path h="11627167" w="11627167">
                <a:moveTo>
                  <a:pt x="0" y="0"/>
                </a:moveTo>
                <a:lnTo>
                  <a:pt x="11627167" y="0"/>
                </a:lnTo>
                <a:lnTo>
                  <a:pt x="11627167" y="11627167"/>
                </a:lnTo>
                <a:lnTo>
                  <a:pt x="0" y="116271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03228" y="0"/>
            <a:ext cx="7485212" cy="8287579"/>
            <a:chOff x="0" y="0"/>
            <a:chExt cx="1971414" cy="218273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71414" cy="2182737"/>
            </a:xfrm>
            <a:custGeom>
              <a:avLst/>
              <a:gdLst/>
              <a:ahLst/>
              <a:cxnLst/>
              <a:rect r="r" b="b" t="t" l="l"/>
              <a:pathLst>
                <a:path h="2182737" w="1971414">
                  <a:moveTo>
                    <a:pt x="0" y="0"/>
                  </a:moveTo>
                  <a:lnTo>
                    <a:pt x="1971414" y="0"/>
                  </a:lnTo>
                  <a:lnTo>
                    <a:pt x="1971414" y="2182737"/>
                  </a:lnTo>
                  <a:lnTo>
                    <a:pt x="0" y="2182737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971414" cy="22398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99194" y="4886639"/>
            <a:ext cx="7216116" cy="3292701"/>
          </a:xfrm>
          <a:custGeom>
            <a:avLst/>
            <a:gdLst/>
            <a:ahLst/>
            <a:cxnLst/>
            <a:rect r="r" b="b" t="t" l="l"/>
            <a:pathLst>
              <a:path h="3292701" w="7216116">
                <a:moveTo>
                  <a:pt x="0" y="0"/>
                </a:moveTo>
                <a:lnTo>
                  <a:pt x="7216116" y="0"/>
                </a:lnTo>
                <a:lnTo>
                  <a:pt x="7216116" y="3292701"/>
                </a:lnTo>
                <a:lnTo>
                  <a:pt x="0" y="32927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7176" r="0" b="-596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103067" y="1549811"/>
            <a:ext cx="9515086" cy="2282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30"/>
              </a:lnSpc>
            </a:pPr>
            <a:r>
              <a:rPr lang="en-US" b="true" sz="9000" spc="-432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IBM Watsonx.ai AutoAI Experiment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103067" y="4429984"/>
            <a:ext cx="9515086" cy="449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39"/>
              </a:lnSpc>
              <a:spcBef>
                <a:spcPct val="0"/>
              </a:spcBef>
            </a:pPr>
            <a:r>
              <a:rPr lang="en-US" sz="2399" spc="143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IBM</a:t>
            </a:r>
            <a:r>
              <a:rPr lang="en-US" sz="2399" spc="143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Watsonx.ai AutoAI automatically performs machine learning tasks such as data preprocessing, feature engineering, algorithm selection, hyperparameter optimization, and model evaluation.</a:t>
            </a:r>
          </a:p>
          <a:p>
            <a:pPr algn="just" marL="0" indent="0" lvl="0">
              <a:lnSpc>
                <a:spcPts val="3239"/>
              </a:lnSpc>
              <a:spcBef>
                <a:spcPct val="0"/>
              </a:spcBef>
            </a:pPr>
            <a:r>
              <a:rPr lang="en-US" sz="2399" spc="143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AutoAI Process</a:t>
            </a:r>
          </a:p>
          <a:p>
            <a:pPr algn="just" marL="0" indent="0" lvl="0">
              <a:lnSpc>
                <a:spcPts val="3239"/>
              </a:lnSpc>
              <a:spcBef>
                <a:spcPct val="0"/>
              </a:spcBef>
            </a:pPr>
            <a:r>
              <a:rPr lang="en-US" sz="2399" spc="143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• Data Preparation</a:t>
            </a:r>
          </a:p>
          <a:p>
            <a:pPr algn="just" marL="0" indent="0" lvl="0">
              <a:lnSpc>
                <a:spcPts val="3239"/>
              </a:lnSpc>
              <a:spcBef>
                <a:spcPct val="0"/>
              </a:spcBef>
            </a:pPr>
            <a:r>
              <a:rPr lang="en-US" sz="2399" spc="143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• Feature Engineering</a:t>
            </a:r>
          </a:p>
          <a:p>
            <a:pPr algn="just" marL="0" indent="0" lvl="0">
              <a:lnSpc>
                <a:spcPts val="3239"/>
              </a:lnSpc>
              <a:spcBef>
                <a:spcPct val="0"/>
              </a:spcBef>
            </a:pPr>
            <a:r>
              <a:rPr lang="en-US" sz="2399" spc="143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• Pipeline Generation</a:t>
            </a:r>
          </a:p>
          <a:p>
            <a:pPr algn="just" marL="0" indent="0" lvl="0">
              <a:lnSpc>
                <a:spcPts val="3239"/>
              </a:lnSpc>
              <a:spcBef>
                <a:spcPct val="0"/>
              </a:spcBef>
            </a:pPr>
            <a:r>
              <a:rPr lang="en-US" sz="2399" spc="143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• Hyperparameter Optimization</a:t>
            </a:r>
          </a:p>
          <a:p>
            <a:pPr algn="just" marL="0" indent="0" lvl="0">
              <a:lnSpc>
                <a:spcPts val="3239"/>
              </a:lnSpc>
              <a:spcBef>
                <a:spcPct val="0"/>
              </a:spcBef>
            </a:pPr>
            <a:r>
              <a:rPr lang="en-US" sz="2399" spc="143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• Model Comparison</a:t>
            </a:r>
          </a:p>
          <a:p>
            <a:pPr algn="just" marL="0" indent="0" lvl="0">
              <a:lnSpc>
                <a:spcPts val="3239"/>
              </a:lnSpc>
              <a:spcBef>
                <a:spcPct val="0"/>
              </a:spcBef>
            </a:pPr>
            <a:r>
              <a:rPr lang="en-US" sz="2399" spc="143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• Best Pipeline Selection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-1768917" y="-111932"/>
            <a:ext cx="6265091" cy="483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14"/>
              </a:lnSpc>
            </a:pPr>
            <a:r>
              <a:rPr lang="en-US" b="true" sz="37888" spc="-1856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06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22928" y="2344500"/>
            <a:ext cx="8361331" cy="10032756"/>
            <a:chOff x="0" y="0"/>
            <a:chExt cx="2202161" cy="26423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02161" cy="2642372"/>
            </a:xfrm>
            <a:custGeom>
              <a:avLst/>
              <a:gdLst/>
              <a:ahLst/>
              <a:cxnLst/>
              <a:rect r="r" b="b" t="t" l="l"/>
              <a:pathLst>
                <a:path h="2642372" w="2202161">
                  <a:moveTo>
                    <a:pt x="0" y="0"/>
                  </a:moveTo>
                  <a:lnTo>
                    <a:pt x="2202161" y="0"/>
                  </a:lnTo>
                  <a:lnTo>
                    <a:pt x="2202161" y="2642372"/>
                  </a:lnTo>
                  <a:lnTo>
                    <a:pt x="0" y="2642372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202161" cy="26995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736235" y="2492266"/>
            <a:ext cx="7450937" cy="3383366"/>
          </a:xfrm>
          <a:custGeom>
            <a:avLst/>
            <a:gdLst/>
            <a:ahLst/>
            <a:cxnLst/>
            <a:rect r="r" b="b" t="t" l="l"/>
            <a:pathLst>
              <a:path h="3383366" w="7450937">
                <a:moveTo>
                  <a:pt x="0" y="0"/>
                </a:moveTo>
                <a:lnTo>
                  <a:pt x="7450937" y="0"/>
                </a:lnTo>
                <a:lnTo>
                  <a:pt x="7450937" y="3383366"/>
                </a:lnTo>
                <a:lnTo>
                  <a:pt x="0" y="33833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7065" r="0" b="-6672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16831" y="861625"/>
            <a:ext cx="9436261" cy="8563750"/>
            <a:chOff x="0" y="0"/>
            <a:chExt cx="12581681" cy="11418333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285750"/>
              <a:ext cx="12581681" cy="43746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2324"/>
                </a:lnSpc>
              </a:pPr>
              <a:r>
                <a:rPr lang="en-US" b="true" sz="12705" spc="-597">
                  <a:solidFill>
                    <a:srgbClr val="000000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Pipeline Leaderboard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4887993"/>
              <a:ext cx="9833403" cy="6530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3239"/>
                </a:lnSpc>
                <a:spcBef>
                  <a:spcPct val="0"/>
                </a:spcBef>
              </a:pPr>
              <a:r>
                <a:rPr lang="en-US" sz="2399" spc="143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IBM</a:t>
              </a:r>
              <a:r>
                <a:rPr lang="en-US" sz="2399" spc="143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 Watsonx.ai generated multiple machine learning pipelines and ranked them according to prediction accuracy.</a:t>
              </a:r>
            </a:p>
            <a:p>
              <a:pPr algn="just" marL="0" indent="0" lvl="0">
                <a:lnSpc>
                  <a:spcPts val="3239"/>
                </a:lnSpc>
                <a:spcBef>
                  <a:spcPct val="0"/>
                </a:spcBef>
              </a:pPr>
              <a:r>
                <a:rPr lang="en-US" sz="2399" spc="143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Best Pipeline</a:t>
              </a:r>
            </a:p>
            <a:p>
              <a:pPr algn="just" marL="0" indent="0" lvl="0">
                <a:lnSpc>
                  <a:spcPts val="3239"/>
                </a:lnSpc>
                <a:spcBef>
                  <a:spcPct val="0"/>
                </a:spcBef>
              </a:pPr>
              <a:r>
                <a:rPr lang="en-US" sz="2399" spc="143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Pipelin</a:t>
              </a:r>
              <a:r>
                <a:rPr lang="en-US" sz="2399" spc="143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e Number : Pipeline 9</a:t>
              </a:r>
            </a:p>
            <a:p>
              <a:pPr algn="just" marL="0" indent="0" lvl="0">
                <a:lnSpc>
                  <a:spcPts val="3239"/>
                </a:lnSpc>
                <a:spcBef>
                  <a:spcPct val="0"/>
                </a:spcBef>
              </a:pPr>
              <a:r>
                <a:rPr lang="en-US" sz="2399" spc="143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Algorithm : Batched Tree Ensemble Classifier</a:t>
              </a:r>
            </a:p>
            <a:p>
              <a:pPr algn="just" marL="0" indent="0" lvl="0">
                <a:lnSpc>
                  <a:spcPts val="3239"/>
                </a:lnSpc>
                <a:spcBef>
                  <a:spcPct val="0"/>
                </a:spcBef>
              </a:pPr>
              <a:r>
                <a:rPr lang="en-US" sz="2399" spc="143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Cross Validation Accuracy : 97%</a:t>
              </a:r>
            </a:p>
            <a:p>
              <a:pPr algn="just" marL="0" indent="0" lvl="0">
                <a:lnSpc>
                  <a:spcPts val="3239"/>
                </a:lnSpc>
                <a:spcBef>
                  <a:spcPct val="0"/>
                </a:spcBef>
              </a:pPr>
              <a:r>
                <a:rPr lang="en-US" sz="2399" spc="143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Specialization : Incremental Learning</a:t>
              </a:r>
            </a:p>
            <a:p>
              <a:pPr algn="just" marL="0" indent="0" lvl="0">
                <a:lnSpc>
                  <a:spcPts val="3239"/>
                </a:lnSpc>
                <a:spcBef>
                  <a:spcPct val="0"/>
                </a:spcBef>
              </a:pPr>
              <a:r>
                <a:rPr lang="en-US" sz="2399" spc="143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Advantages</a:t>
              </a:r>
            </a:p>
            <a:p>
              <a:pPr algn="just" marL="0" indent="0" lvl="0">
                <a:lnSpc>
                  <a:spcPts val="3239"/>
                </a:lnSpc>
                <a:spcBef>
                  <a:spcPct val="0"/>
                </a:spcBef>
              </a:pPr>
              <a:r>
                <a:rPr lang="en-US" sz="2399" spc="143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• High Accuracy</a:t>
              </a:r>
            </a:p>
            <a:p>
              <a:pPr algn="just" marL="0" indent="0" lvl="0">
                <a:lnSpc>
                  <a:spcPts val="3239"/>
                </a:lnSpc>
                <a:spcBef>
                  <a:spcPct val="0"/>
                </a:spcBef>
              </a:pPr>
              <a:r>
                <a:rPr lang="en-US" sz="2399" spc="143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• Better Generalization</a:t>
              </a:r>
            </a:p>
            <a:p>
              <a:pPr algn="just" marL="0" indent="0" lvl="0">
                <a:lnSpc>
                  <a:spcPts val="3239"/>
                </a:lnSpc>
                <a:spcBef>
                  <a:spcPct val="0"/>
                </a:spcBef>
              </a:pPr>
              <a:r>
                <a:rPr lang="en-US" sz="2399" spc="143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• Automatic Optimization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2719168" y="6975212"/>
            <a:ext cx="6265091" cy="483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14"/>
              </a:lnSpc>
            </a:pPr>
            <a:r>
              <a:rPr lang="en-US" b="true" sz="37888" spc="-1856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07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05258" y="-3703907"/>
            <a:ext cx="7624730" cy="7624730"/>
          </a:xfrm>
          <a:custGeom>
            <a:avLst/>
            <a:gdLst/>
            <a:ahLst/>
            <a:cxnLst/>
            <a:rect r="r" b="b" t="t" l="l"/>
            <a:pathLst>
              <a:path h="7624730" w="7624730">
                <a:moveTo>
                  <a:pt x="0" y="0"/>
                </a:moveTo>
                <a:lnTo>
                  <a:pt x="7624730" y="0"/>
                </a:lnTo>
                <a:lnTo>
                  <a:pt x="7624730" y="7624731"/>
                </a:lnTo>
                <a:lnTo>
                  <a:pt x="0" y="7624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85916" y="4260068"/>
            <a:ext cx="10014901" cy="909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89"/>
              </a:lnSpc>
            </a:pPr>
            <a:r>
              <a:rPr lang="en-US" b="true" sz="6999" spc="-335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Model Performance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71343" y="5445302"/>
            <a:ext cx="7615182" cy="3268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39"/>
              </a:lnSpc>
              <a:spcBef>
                <a:spcPct val="0"/>
              </a:spcBef>
            </a:pPr>
            <a:r>
              <a:rPr lang="en-US" sz="2399" spc="143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S</a:t>
            </a:r>
            <a:r>
              <a:rPr lang="en-US" sz="2399" spc="143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elected Machine Learning Model</a:t>
            </a:r>
          </a:p>
          <a:p>
            <a:pPr algn="just" marL="0" indent="0" lvl="0">
              <a:lnSpc>
                <a:spcPts val="3239"/>
              </a:lnSpc>
              <a:spcBef>
                <a:spcPct val="0"/>
              </a:spcBef>
            </a:pPr>
            <a:r>
              <a:rPr lang="en-US" sz="2399" spc="143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Algorithm</a:t>
            </a:r>
          </a:p>
          <a:p>
            <a:pPr algn="just" marL="0" indent="0" lvl="0">
              <a:lnSpc>
                <a:spcPts val="3239"/>
              </a:lnSpc>
              <a:spcBef>
                <a:spcPct val="0"/>
              </a:spcBef>
            </a:pPr>
            <a:r>
              <a:rPr lang="en-US" sz="2399" spc="143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Batched Tree Ensemble Classifier</a:t>
            </a:r>
          </a:p>
          <a:p>
            <a:pPr algn="just" marL="0" indent="0" lvl="0">
              <a:lnSpc>
                <a:spcPts val="3239"/>
              </a:lnSpc>
              <a:spcBef>
                <a:spcPct val="0"/>
              </a:spcBef>
            </a:pPr>
            <a:r>
              <a:rPr lang="en-US" sz="2399" spc="143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Performance Highlights</a:t>
            </a:r>
          </a:p>
          <a:p>
            <a:pPr algn="just" marL="0" indent="0" lvl="0">
              <a:lnSpc>
                <a:spcPts val="3239"/>
              </a:lnSpc>
              <a:spcBef>
                <a:spcPct val="0"/>
              </a:spcBef>
            </a:pPr>
            <a:r>
              <a:rPr lang="en-US" sz="2399" spc="143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• Excellent Prediction Accuracy</a:t>
            </a:r>
          </a:p>
          <a:p>
            <a:pPr algn="just" marL="0" indent="0" lvl="0">
              <a:lnSpc>
                <a:spcPts val="3239"/>
              </a:lnSpc>
              <a:spcBef>
                <a:spcPct val="0"/>
              </a:spcBef>
            </a:pPr>
            <a:r>
              <a:rPr lang="en-US" sz="2399" spc="143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• Optimized Feature Engineering</a:t>
            </a:r>
          </a:p>
          <a:p>
            <a:pPr algn="just" marL="0" indent="0" lvl="0">
              <a:lnSpc>
                <a:spcPts val="3239"/>
              </a:lnSpc>
              <a:spcBef>
                <a:spcPct val="0"/>
              </a:spcBef>
            </a:pPr>
            <a:r>
              <a:rPr lang="en-US" sz="2399" spc="143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• Low Prediction Error</a:t>
            </a:r>
          </a:p>
          <a:p>
            <a:pPr algn="just" marL="0" indent="0" lvl="0">
              <a:lnSpc>
                <a:spcPts val="3239"/>
              </a:lnSpc>
              <a:spcBef>
                <a:spcPct val="0"/>
              </a:spcBef>
            </a:pPr>
            <a:r>
              <a:rPr lang="en-US" sz="2399" spc="143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• Reliable Classification Performance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71343" y="1565272"/>
            <a:ext cx="7315066" cy="2542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952"/>
              </a:lnSpc>
            </a:pPr>
            <a:r>
              <a:rPr lang="en-US" b="true" sz="19538" spc="-937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97%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1109612" y="-666477"/>
            <a:ext cx="7178388" cy="11878896"/>
            <a:chOff x="0" y="0"/>
            <a:chExt cx="1890604" cy="31285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90604" cy="3128598"/>
            </a:xfrm>
            <a:custGeom>
              <a:avLst/>
              <a:gdLst/>
              <a:ahLst/>
              <a:cxnLst/>
              <a:rect r="r" b="b" t="t" l="l"/>
              <a:pathLst>
                <a:path h="3128598" w="1890604">
                  <a:moveTo>
                    <a:pt x="0" y="0"/>
                  </a:moveTo>
                  <a:lnTo>
                    <a:pt x="1890604" y="0"/>
                  </a:lnTo>
                  <a:lnTo>
                    <a:pt x="1890604" y="3128598"/>
                  </a:lnTo>
                  <a:lnTo>
                    <a:pt x="0" y="3128598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890604" cy="3185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080136" y="7130873"/>
            <a:ext cx="6265091" cy="483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14"/>
              </a:lnSpc>
            </a:pPr>
            <a:r>
              <a:rPr lang="en-US" b="true" sz="37888" spc="-1856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08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71343" y="1098547"/>
            <a:ext cx="2615176" cy="401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39"/>
              </a:lnSpc>
              <a:spcBef>
                <a:spcPct val="0"/>
              </a:spcBef>
            </a:pPr>
            <a:r>
              <a:rPr lang="en-US" sz="2399" spc="143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Model Accuracy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74417" y="-5813583"/>
            <a:ext cx="11627167" cy="11627167"/>
          </a:xfrm>
          <a:custGeom>
            <a:avLst/>
            <a:gdLst/>
            <a:ahLst/>
            <a:cxnLst/>
            <a:rect r="r" b="b" t="t" l="l"/>
            <a:pathLst>
              <a:path h="11627167" w="11627167">
                <a:moveTo>
                  <a:pt x="0" y="0"/>
                </a:moveTo>
                <a:lnTo>
                  <a:pt x="11627166" y="0"/>
                </a:lnTo>
                <a:lnTo>
                  <a:pt x="11627166" y="11627166"/>
                </a:lnTo>
                <a:lnTo>
                  <a:pt x="0" y="116271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197548" y="3316068"/>
            <a:ext cx="11090452" cy="4890445"/>
            <a:chOff x="0" y="0"/>
            <a:chExt cx="2920942" cy="128801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20942" cy="1288019"/>
            </a:xfrm>
            <a:custGeom>
              <a:avLst/>
              <a:gdLst/>
              <a:ahLst/>
              <a:cxnLst/>
              <a:rect r="r" b="b" t="t" l="l"/>
              <a:pathLst>
                <a:path h="1288019" w="2920942">
                  <a:moveTo>
                    <a:pt x="0" y="0"/>
                  </a:moveTo>
                  <a:lnTo>
                    <a:pt x="2920942" y="0"/>
                  </a:lnTo>
                  <a:lnTo>
                    <a:pt x="2920942" y="1288019"/>
                  </a:lnTo>
                  <a:lnTo>
                    <a:pt x="0" y="1288019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2920942" cy="13451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471931" y="3703277"/>
            <a:ext cx="9787369" cy="4220613"/>
          </a:xfrm>
          <a:custGeom>
            <a:avLst/>
            <a:gdLst/>
            <a:ahLst/>
            <a:cxnLst/>
            <a:rect r="r" b="b" t="t" l="l"/>
            <a:pathLst>
              <a:path h="4220613" w="9787369">
                <a:moveTo>
                  <a:pt x="0" y="0"/>
                </a:moveTo>
                <a:lnTo>
                  <a:pt x="9787369" y="0"/>
                </a:lnTo>
                <a:lnTo>
                  <a:pt x="9787369" y="4220613"/>
                </a:lnTo>
                <a:lnTo>
                  <a:pt x="0" y="42206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599" t="-34531" r="-4502" b="-7608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868363"/>
            <a:ext cx="9515086" cy="1177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30"/>
              </a:lnSpc>
            </a:pPr>
            <a:r>
              <a:rPr lang="en-US" b="true" sz="9000" spc="-432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Model Evaluation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277968"/>
            <a:ext cx="5472019" cy="3268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39"/>
              </a:lnSpc>
              <a:spcBef>
                <a:spcPct val="0"/>
              </a:spcBef>
            </a:pPr>
            <a:r>
              <a:rPr lang="en-US" sz="2399" spc="143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The</a:t>
            </a:r>
            <a:r>
              <a:rPr lang="en-US" sz="2399" spc="143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trained model was evaluated using the Receiver Operating Characteristic (ROC) Curve.</a:t>
            </a:r>
          </a:p>
          <a:p>
            <a:pPr algn="just" marL="0" indent="0" lvl="0">
              <a:lnSpc>
                <a:spcPts val="3239"/>
              </a:lnSpc>
              <a:spcBef>
                <a:spcPct val="0"/>
              </a:spcBef>
            </a:pPr>
            <a:r>
              <a:rPr lang="en-US" sz="2399" spc="143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Evaluation Metrics</a:t>
            </a:r>
          </a:p>
          <a:p>
            <a:pPr algn="just" marL="0" indent="0" lvl="0">
              <a:lnSpc>
                <a:spcPts val="3239"/>
              </a:lnSpc>
              <a:spcBef>
                <a:spcPct val="0"/>
              </a:spcBef>
            </a:pPr>
            <a:r>
              <a:rPr lang="en-US" sz="2399" spc="143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• High True Positive Rate</a:t>
            </a:r>
          </a:p>
          <a:p>
            <a:pPr algn="just" marL="0" indent="0" lvl="0">
              <a:lnSpc>
                <a:spcPts val="3239"/>
              </a:lnSpc>
              <a:spcBef>
                <a:spcPct val="0"/>
              </a:spcBef>
            </a:pPr>
            <a:r>
              <a:rPr lang="en-US" sz="2399" spc="143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• Low False Positive Rate</a:t>
            </a:r>
          </a:p>
          <a:p>
            <a:pPr algn="just" marL="0" indent="0" lvl="0">
              <a:lnSpc>
                <a:spcPts val="3239"/>
              </a:lnSpc>
              <a:spcBef>
                <a:spcPct val="0"/>
              </a:spcBef>
            </a:pPr>
            <a:r>
              <a:rPr lang="en-US" sz="2399" spc="143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• Excellent Classification Capability</a:t>
            </a:r>
          </a:p>
          <a:p>
            <a:pPr algn="just" marL="0" indent="0" lvl="0">
              <a:lnSpc>
                <a:spcPts val="3239"/>
              </a:lnSpc>
              <a:spcBef>
                <a:spcPct val="0"/>
              </a:spcBef>
            </a:pPr>
            <a:r>
              <a:rPr lang="en-US" sz="2399" spc="143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• Reliable Model Performance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-813974" y="7071632"/>
            <a:ext cx="6265091" cy="483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14"/>
              </a:lnSpc>
            </a:pPr>
            <a:r>
              <a:rPr lang="en-US" b="true" sz="37888" spc="-1856">
                <a:solidFill>
                  <a:srgbClr val="0003FF"/>
                </a:solidFill>
                <a:latin typeface="TT Hoves Bold"/>
                <a:ea typeface="TT Hoves Bold"/>
                <a:cs typeface="TT Hoves Bold"/>
                <a:sym typeface="TT Hoves Bold"/>
              </a:rPr>
              <a:t>09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231458" y="348706"/>
            <a:ext cx="140626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45717" y="5605083"/>
            <a:ext cx="11627167" cy="11627167"/>
          </a:xfrm>
          <a:custGeom>
            <a:avLst/>
            <a:gdLst/>
            <a:ahLst/>
            <a:cxnLst/>
            <a:rect r="r" b="b" t="t" l="l"/>
            <a:pathLst>
              <a:path h="11627167" w="11627167">
                <a:moveTo>
                  <a:pt x="0" y="0"/>
                </a:moveTo>
                <a:lnTo>
                  <a:pt x="11627166" y="0"/>
                </a:lnTo>
                <a:lnTo>
                  <a:pt x="11627166" y="11627167"/>
                </a:lnTo>
                <a:lnTo>
                  <a:pt x="0" y="116271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03228" y="0"/>
            <a:ext cx="8250764" cy="8670354"/>
            <a:chOff x="0" y="0"/>
            <a:chExt cx="2173041" cy="22835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73041" cy="2283550"/>
            </a:xfrm>
            <a:custGeom>
              <a:avLst/>
              <a:gdLst/>
              <a:ahLst/>
              <a:cxnLst/>
              <a:rect r="r" b="b" t="t" l="l"/>
              <a:pathLst>
                <a:path h="2283550" w="2173041">
                  <a:moveTo>
                    <a:pt x="0" y="0"/>
                  </a:moveTo>
                  <a:lnTo>
                    <a:pt x="2173041" y="0"/>
                  </a:lnTo>
                  <a:lnTo>
                    <a:pt x="2173041" y="2283550"/>
                  </a:lnTo>
                  <a:lnTo>
                    <a:pt x="0" y="2283550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2173041" cy="2340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30358" y="4947609"/>
            <a:ext cx="7903092" cy="3596660"/>
          </a:xfrm>
          <a:custGeom>
            <a:avLst/>
            <a:gdLst/>
            <a:ahLst/>
            <a:cxnLst/>
            <a:rect r="r" b="b" t="t" l="l"/>
            <a:pathLst>
              <a:path h="3596660" w="7903092">
                <a:moveTo>
                  <a:pt x="0" y="0"/>
                </a:moveTo>
                <a:lnTo>
                  <a:pt x="7903092" y="0"/>
                </a:lnTo>
                <a:lnTo>
                  <a:pt x="7903092" y="3596660"/>
                </a:lnTo>
                <a:lnTo>
                  <a:pt x="0" y="35966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6975" r="0" b="-6487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8509766" y="2152752"/>
            <a:ext cx="9515086" cy="5589715"/>
            <a:chOff x="0" y="0"/>
            <a:chExt cx="12686781" cy="7452954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190500"/>
              <a:ext cx="12686781" cy="3106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730"/>
                </a:lnSpc>
              </a:pPr>
              <a:r>
                <a:rPr lang="en-US" b="true" sz="9000" spc="-432">
                  <a:solidFill>
                    <a:srgbClr val="000000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Model Deployment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3653113"/>
              <a:ext cx="12686781" cy="37998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3239"/>
                </a:lnSpc>
                <a:spcBef>
                  <a:spcPct val="0"/>
                </a:spcBef>
              </a:pPr>
              <a:r>
                <a:rPr lang="en-US" sz="2399" spc="143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The</a:t>
              </a:r>
              <a:r>
                <a:rPr lang="en-US" sz="2399" spc="143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 trained machine learning model was successfully deployed on IBM Cloud as an online deployment service.</a:t>
              </a:r>
            </a:p>
            <a:p>
              <a:pPr algn="just" marL="0" indent="0" lvl="0">
                <a:lnSpc>
                  <a:spcPts val="3239"/>
                </a:lnSpc>
                <a:spcBef>
                  <a:spcPct val="0"/>
                </a:spcBef>
              </a:pPr>
              <a:r>
                <a:rPr lang="en-US" sz="2399" spc="143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Deployment Features</a:t>
              </a:r>
            </a:p>
            <a:p>
              <a:pPr algn="just" marL="0" indent="0" lvl="0">
                <a:lnSpc>
                  <a:spcPts val="3239"/>
                </a:lnSpc>
                <a:spcBef>
                  <a:spcPct val="0"/>
                </a:spcBef>
              </a:pPr>
              <a:r>
                <a:rPr lang="en-US" sz="2399" spc="143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• REST API Generation</a:t>
              </a:r>
            </a:p>
            <a:p>
              <a:pPr algn="just" marL="0" indent="0" lvl="0">
                <a:lnSpc>
                  <a:spcPts val="3239"/>
                </a:lnSpc>
                <a:spcBef>
                  <a:spcPct val="0"/>
                </a:spcBef>
              </a:pPr>
              <a:r>
                <a:rPr lang="en-US" sz="2399" spc="143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• Online Prediction Service</a:t>
              </a:r>
            </a:p>
            <a:p>
              <a:pPr algn="just" marL="0" indent="0" lvl="0">
                <a:lnSpc>
                  <a:spcPts val="3239"/>
                </a:lnSpc>
                <a:spcBef>
                  <a:spcPct val="0"/>
                </a:spcBef>
              </a:pPr>
              <a:r>
                <a:rPr lang="en-US" sz="2399" spc="143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• Secure Cloud Deployment</a:t>
              </a:r>
            </a:p>
            <a:p>
              <a:pPr algn="just" marL="0" indent="0" lvl="0">
                <a:lnSpc>
                  <a:spcPts val="3239"/>
                </a:lnSpc>
                <a:spcBef>
                  <a:spcPct val="0"/>
                </a:spcBef>
              </a:pPr>
              <a:r>
                <a:rPr lang="en-US" sz="2399" spc="143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• Real-Time Prediction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-524896" y="34713"/>
            <a:ext cx="6265091" cy="483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14"/>
              </a:lnSpc>
            </a:pPr>
            <a:r>
              <a:rPr lang="en-US" b="true" sz="37888" spc="-1856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10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376430" y="2550897"/>
            <a:ext cx="8911570" cy="7736103"/>
            <a:chOff x="0" y="0"/>
            <a:chExt cx="2347080" cy="20374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47080" cy="2037492"/>
            </a:xfrm>
            <a:custGeom>
              <a:avLst/>
              <a:gdLst/>
              <a:ahLst/>
              <a:cxnLst/>
              <a:rect r="r" b="b" t="t" l="l"/>
              <a:pathLst>
                <a:path h="2037492" w="2347080">
                  <a:moveTo>
                    <a:pt x="0" y="0"/>
                  </a:moveTo>
                  <a:lnTo>
                    <a:pt x="2347080" y="0"/>
                  </a:lnTo>
                  <a:lnTo>
                    <a:pt x="2347080" y="2037492"/>
                  </a:lnTo>
                  <a:lnTo>
                    <a:pt x="0" y="2037492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347080" cy="20946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489177" y="2697241"/>
            <a:ext cx="8686076" cy="3721707"/>
          </a:xfrm>
          <a:custGeom>
            <a:avLst/>
            <a:gdLst/>
            <a:ahLst/>
            <a:cxnLst/>
            <a:rect r="r" b="b" t="t" l="l"/>
            <a:pathLst>
              <a:path h="3721707" w="8686076">
                <a:moveTo>
                  <a:pt x="0" y="0"/>
                </a:moveTo>
                <a:lnTo>
                  <a:pt x="8686076" y="0"/>
                </a:lnTo>
                <a:lnTo>
                  <a:pt x="8686076" y="3721708"/>
                </a:lnTo>
                <a:lnTo>
                  <a:pt x="0" y="37217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579" t="-35116" r="-4460" b="-7873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16831" y="861625"/>
            <a:ext cx="7498460" cy="8154175"/>
            <a:chOff x="0" y="0"/>
            <a:chExt cx="9997946" cy="10872233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285750"/>
              <a:ext cx="9997946" cy="43746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2324"/>
                </a:lnSpc>
              </a:pPr>
              <a:r>
                <a:rPr lang="en-US" b="true" sz="12705" spc="-597">
                  <a:solidFill>
                    <a:srgbClr val="000000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Prediction Results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4887993"/>
              <a:ext cx="9833403" cy="5984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3239"/>
                </a:lnSpc>
                <a:spcBef>
                  <a:spcPct val="0"/>
                </a:spcBef>
              </a:pPr>
              <a:r>
                <a:rPr lang="en-US" sz="2399" spc="143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Th</a:t>
              </a:r>
              <a:r>
                <a:rPr lang="en-US" sz="2399" spc="143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e deployed model was tested using sample student records. The system successfully predicted the placem</a:t>
              </a:r>
              <a:r>
                <a:rPr lang="en-US" sz="2399" spc="143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ent</a:t>
              </a:r>
              <a:r>
                <a:rPr lang="en-US" sz="2399" spc="143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 status with high confidence.</a:t>
              </a:r>
            </a:p>
            <a:p>
              <a:pPr algn="just" marL="0" indent="0" lvl="0">
                <a:lnSpc>
                  <a:spcPts val="3239"/>
                </a:lnSpc>
                <a:spcBef>
                  <a:spcPct val="0"/>
                </a:spcBef>
              </a:pPr>
              <a:r>
                <a:rPr lang="en-US" sz="2399" spc="143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Prediction Output</a:t>
              </a:r>
            </a:p>
            <a:p>
              <a:pPr algn="just" marL="0" indent="0" lvl="0">
                <a:lnSpc>
                  <a:spcPts val="3239"/>
                </a:lnSpc>
                <a:spcBef>
                  <a:spcPct val="0"/>
                </a:spcBef>
              </a:pPr>
              <a:r>
                <a:rPr lang="en-US" sz="2399" spc="143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Prediction : YES</a:t>
              </a:r>
            </a:p>
            <a:p>
              <a:pPr algn="just" marL="0" indent="0" lvl="0">
                <a:lnSpc>
                  <a:spcPts val="3239"/>
                </a:lnSpc>
                <a:spcBef>
                  <a:spcPct val="0"/>
                </a:spcBef>
              </a:pPr>
              <a:r>
                <a:rPr lang="en-US" sz="2399" spc="143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Confidence : 100%</a:t>
              </a:r>
            </a:p>
            <a:p>
              <a:pPr algn="just" marL="0" indent="0" lvl="0">
                <a:lnSpc>
                  <a:spcPts val="3239"/>
                </a:lnSpc>
                <a:spcBef>
                  <a:spcPct val="0"/>
                </a:spcBef>
              </a:pPr>
              <a:r>
                <a:rPr lang="en-US" sz="2399" spc="143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Benefits</a:t>
              </a:r>
            </a:p>
            <a:p>
              <a:pPr algn="just" marL="0" indent="0" lvl="0">
                <a:lnSpc>
                  <a:spcPts val="3239"/>
                </a:lnSpc>
                <a:spcBef>
                  <a:spcPct val="0"/>
                </a:spcBef>
              </a:pPr>
              <a:r>
                <a:rPr lang="en-US" sz="2399" spc="143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• I</a:t>
              </a:r>
              <a:r>
                <a:rPr lang="en-US" sz="2399" spc="143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nstant Prediction</a:t>
              </a:r>
            </a:p>
            <a:p>
              <a:pPr algn="just" marL="0" indent="0" lvl="0">
                <a:lnSpc>
                  <a:spcPts val="3239"/>
                </a:lnSpc>
                <a:spcBef>
                  <a:spcPct val="0"/>
                </a:spcBef>
              </a:pPr>
              <a:r>
                <a:rPr lang="en-US" sz="2399" spc="143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• High Confidence Score</a:t>
              </a:r>
            </a:p>
            <a:p>
              <a:pPr algn="just" marL="0" indent="0" lvl="0">
                <a:lnSpc>
                  <a:spcPts val="3239"/>
                </a:lnSpc>
                <a:spcBef>
                  <a:spcPct val="0"/>
                </a:spcBef>
              </a:pPr>
              <a:r>
                <a:rPr lang="en-US" sz="2399" spc="143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• Easy Testing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341178" y="6809082"/>
            <a:ext cx="6265091" cy="483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14"/>
              </a:lnSpc>
            </a:pPr>
            <a:r>
              <a:rPr lang="en-US" b="true" sz="37888" spc="-1856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11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23002" y="5709084"/>
            <a:ext cx="9155833" cy="9155833"/>
          </a:xfrm>
          <a:custGeom>
            <a:avLst/>
            <a:gdLst/>
            <a:ahLst/>
            <a:cxnLst/>
            <a:rect r="r" b="b" t="t" l="l"/>
            <a:pathLst>
              <a:path h="9155833" w="9155833">
                <a:moveTo>
                  <a:pt x="0" y="0"/>
                </a:moveTo>
                <a:lnTo>
                  <a:pt x="9155833" y="0"/>
                </a:lnTo>
                <a:lnTo>
                  <a:pt x="9155833" y="9155832"/>
                </a:lnTo>
                <a:lnTo>
                  <a:pt x="0" y="91558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388005" y="1357313"/>
            <a:ext cx="5881360" cy="7189599"/>
            <a:chOff x="0" y="0"/>
            <a:chExt cx="7841814" cy="9586131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612994" y="5410200"/>
              <a:ext cx="5339574" cy="9313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5150"/>
                </a:lnSpc>
              </a:pPr>
              <a:r>
                <a:rPr lang="en-US" b="true" sz="5000">
                  <a:solidFill>
                    <a:srgbClr val="343434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Applications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612994" y="6535209"/>
              <a:ext cx="7228820" cy="30509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743"/>
                </a:lnSpc>
              </a:pPr>
              <a:r>
                <a:rPr lang="en-US" sz="2399">
                  <a:solidFill>
                    <a:srgbClr val="343434"/>
                  </a:solidFill>
                  <a:latin typeface="TT Hoves"/>
                  <a:ea typeface="TT Hoves"/>
                  <a:cs typeface="TT Hoves"/>
                  <a:sym typeface="TT Hoves"/>
                </a:rPr>
                <a:t>• C</a:t>
              </a:r>
              <a:r>
                <a:rPr lang="en-US" sz="2399">
                  <a:solidFill>
                    <a:srgbClr val="343434"/>
                  </a:solidFill>
                  <a:latin typeface="TT Hoves"/>
                  <a:ea typeface="TT Hoves"/>
                  <a:cs typeface="TT Hoves"/>
                  <a:sym typeface="TT Hoves"/>
                </a:rPr>
                <a:t>olleges</a:t>
              </a:r>
            </a:p>
            <a:p>
              <a:pPr algn="just">
                <a:lnSpc>
                  <a:spcPts val="3743"/>
                </a:lnSpc>
              </a:pPr>
              <a:r>
                <a:rPr lang="en-US" sz="2399">
                  <a:solidFill>
                    <a:srgbClr val="343434"/>
                  </a:solidFill>
                  <a:latin typeface="TT Hoves"/>
                  <a:ea typeface="TT Hoves"/>
                  <a:cs typeface="TT Hoves"/>
                  <a:sym typeface="TT Hoves"/>
                </a:rPr>
                <a:t>• Universities</a:t>
              </a:r>
            </a:p>
            <a:p>
              <a:pPr algn="just">
                <a:lnSpc>
                  <a:spcPts val="3743"/>
                </a:lnSpc>
              </a:pPr>
              <a:r>
                <a:rPr lang="en-US" sz="2399">
                  <a:solidFill>
                    <a:srgbClr val="343434"/>
                  </a:solidFill>
                  <a:latin typeface="TT Hoves"/>
                  <a:ea typeface="TT Hoves"/>
                  <a:cs typeface="TT Hoves"/>
                  <a:sym typeface="TT Hoves"/>
                </a:rPr>
                <a:t>• Placement Cells</a:t>
              </a:r>
            </a:p>
            <a:p>
              <a:pPr algn="just">
                <a:lnSpc>
                  <a:spcPts val="3743"/>
                </a:lnSpc>
              </a:pPr>
              <a:r>
                <a:rPr lang="en-US" sz="2399">
                  <a:solidFill>
                    <a:srgbClr val="343434"/>
                  </a:solidFill>
                  <a:latin typeface="TT Hoves"/>
                  <a:ea typeface="TT Hoves"/>
                  <a:cs typeface="TT Hoves"/>
                  <a:sym typeface="TT Hoves"/>
                </a:rPr>
                <a:t>• Student Career Guidance</a:t>
              </a:r>
            </a:p>
            <a:p>
              <a:pPr algn="just">
                <a:lnSpc>
                  <a:spcPts val="3743"/>
                </a:lnSpc>
              </a:pPr>
              <a:r>
                <a:rPr lang="en-US" sz="2399">
                  <a:solidFill>
                    <a:srgbClr val="343434"/>
                  </a:solidFill>
                  <a:latin typeface="TT Hoves"/>
                  <a:ea typeface="TT Hoves"/>
                  <a:cs typeface="TT Hoves"/>
                  <a:sym typeface="TT Hoves"/>
                </a:rPr>
                <a:t>• Educational Analytics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612994" y="76200"/>
              <a:ext cx="6146264" cy="9313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5150"/>
                </a:lnSpc>
              </a:pPr>
              <a:r>
                <a:rPr lang="en-US" b="true" sz="5000">
                  <a:solidFill>
                    <a:srgbClr val="343434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Advantages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612994" y="1201209"/>
              <a:ext cx="7228820" cy="36732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743"/>
                </a:lnSpc>
              </a:pPr>
              <a:r>
                <a:rPr lang="en-US" sz="2399">
                  <a:solidFill>
                    <a:srgbClr val="343434"/>
                  </a:solidFill>
                  <a:latin typeface="TT Hoves"/>
                  <a:ea typeface="TT Hoves"/>
                  <a:cs typeface="TT Hoves"/>
                  <a:sym typeface="TT Hoves"/>
                </a:rPr>
                <a:t>•</a:t>
              </a:r>
              <a:r>
                <a:rPr lang="en-US" sz="2399">
                  <a:solidFill>
                    <a:srgbClr val="343434"/>
                  </a:solidFill>
                  <a:latin typeface="TT Hoves"/>
                  <a:ea typeface="TT Hoves"/>
                  <a:cs typeface="TT Hoves"/>
                  <a:sym typeface="TT Hoves"/>
                </a:rPr>
                <a:t> High Prediction Accuracy</a:t>
              </a:r>
            </a:p>
            <a:p>
              <a:pPr algn="just">
                <a:lnSpc>
                  <a:spcPts val="3743"/>
                </a:lnSpc>
              </a:pPr>
              <a:r>
                <a:rPr lang="en-US" sz="2399">
                  <a:solidFill>
                    <a:srgbClr val="343434"/>
                  </a:solidFill>
                  <a:latin typeface="TT Hoves"/>
                  <a:ea typeface="TT Hoves"/>
                  <a:cs typeface="TT Hoves"/>
                  <a:sym typeface="TT Hoves"/>
                </a:rPr>
                <a:t>• Automated Machine Learning</a:t>
              </a:r>
            </a:p>
            <a:p>
              <a:pPr algn="just">
                <a:lnSpc>
                  <a:spcPts val="3743"/>
                </a:lnSpc>
              </a:pPr>
              <a:r>
                <a:rPr lang="en-US" sz="2399">
                  <a:solidFill>
                    <a:srgbClr val="343434"/>
                  </a:solidFill>
                  <a:latin typeface="TT Hoves"/>
                  <a:ea typeface="TT Hoves"/>
                  <a:cs typeface="TT Hoves"/>
                  <a:sym typeface="TT Hoves"/>
                </a:rPr>
                <a:t>• Cloud-Based Deployment</a:t>
              </a:r>
            </a:p>
            <a:p>
              <a:pPr algn="just">
                <a:lnSpc>
                  <a:spcPts val="3743"/>
                </a:lnSpc>
              </a:pPr>
              <a:r>
                <a:rPr lang="en-US" sz="2399">
                  <a:solidFill>
                    <a:srgbClr val="343434"/>
                  </a:solidFill>
                  <a:latin typeface="TT Hoves"/>
                  <a:ea typeface="TT Hoves"/>
                  <a:cs typeface="TT Hoves"/>
                  <a:sym typeface="TT Hoves"/>
                </a:rPr>
                <a:t>• Fast Processing</a:t>
              </a:r>
            </a:p>
            <a:p>
              <a:pPr algn="just">
                <a:lnSpc>
                  <a:spcPts val="3743"/>
                </a:lnSpc>
              </a:pPr>
              <a:r>
                <a:rPr lang="en-US" sz="2399">
                  <a:solidFill>
                    <a:srgbClr val="343434"/>
                  </a:solidFill>
                  <a:latin typeface="TT Hoves"/>
                  <a:ea typeface="TT Hoves"/>
                  <a:cs typeface="TT Hoves"/>
                  <a:sym typeface="TT Hoves"/>
                </a:rPr>
                <a:t>• Easy to Use</a:t>
              </a:r>
            </a:p>
            <a:p>
              <a:pPr algn="just">
                <a:lnSpc>
                  <a:spcPts val="3743"/>
                </a:lnSpc>
              </a:pPr>
              <a:r>
                <a:rPr lang="en-US" sz="2399">
                  <a:solidFill>
                    <a:srgbClr val="343434"/>
                  </a:solidFill>
                  <a:latin typeface="TT Hoves"/>
                  <a:ea typeface="TT Hoves"/>
                  <a:cs typeface="TT Hoves"/>
                  <a:sym typeface="TT Hoves"/>
                </a:rPr>
                <a:t>• Reliable Results</a:t>
              </a:r>
            </a:p>
          </p:txBody>
        </p:sp>
        <p:grpSp>
          <p:nvGrpSpPr>
            <p:cNvPr name="Group 8" id="8"/>
            <p:cNvGrpSpPr/>
            <p:nvPr/>
          </p:nvGrpSpPr>
          <p:grpSpPr>
            <a:xfrm rot="0">
              <a:off x="0" y="177068"/>
              <a:ext cx="365309" cy="326699"/>
              <a:chOff x="0" y="0"/>
              <a:chExt cx="91718" cy="82024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91718" cy="82024"/>
              </a:xfrm>
              <a:custGeom>
                <a:avLst/>
                <a:gdLst/>
                <a:ahLst/>
                <a:cxnLst/>
                <a:rect r="r" b="b" t="t" l="l"/>
                <a:pathLst>
                  <a:path h="82024" w="91718">
                    <a:moveTo>
                      <a:pt x="0" y="0"/>
                    </a:moveTo>
                    <a:lnTo>
                      <a:pt x="91718" y="0"/>
                    </a:lnTo>
                    <a:lnTo>
                      <a:pt x="91718" y="82024"/>
                    </a:lnTo>
                    <a:lnTo>
                      <a:pt x="0" y="82024"/>
                    </a:lnTo>
                    <a:close/>
                  </a:path>
                </a:pathLst>
              </a:custGeom>
              <a:solidFill>
                <a:srgbClr val="0003FF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85725"/>
                <a:ext cx="91718" cy="820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25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0" y="5511068"/>
              <a:ext cx="365309" cy="326699"/>
              <a:chOff x="0" y="0"/>
              <a:chExt cx="91718" cy="82024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91718" cy="82024"/>
              </a:xfrm>
              <a:custGeom>
                <a:avLst/>
                <a:gdLst/>
                <a:ahLst/>
                <a:cxnLst/>
                <a:rect r="r" b="b" t="t" l="l"/>
                <a:pathLst>
                  <a:path h="82024" w="91718">
                    <a:moveTo>
                      <a:pt x="0" y="0"/>
                    </a:moveTo>
                    <a:lnTo>
                      <a:pt x="91718" y="0"/>
                    </a:lnTo>
                    <a:lnTo>
                      <a:pt x="91718" y="82024"/>
                    </a:lnTo>
                    <a:lnTo>
                      <a:pt x="0" y="82024"/>
                    </a:lnTo>
                    <a:close/>
                  </a:path>
                </a:pathLst>
              </a:custGeom>
              <a:solidFill>
                <a:srgbClr val="0003FF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85725"/>
                <a:ext cx="91718" cy="820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25"/>
                  </a:lnSpc>
                </a:pPr>
              </a:p>
            </p:txBody>
          </p:sp>
        </p:grpSp>
      </p:grpSp>
      <p:grpSp>
        <p:nvGrpSpPr>
          <p:cNvPr name="Group 14" id="14"/>
          <p:cNvGrpSpPr/>
          <p:nvPr/>
        </p:nvGrpSpPr>
        <p:grpSpPr>
          <a:xfrm rot="0">
            <a:off x="-1822665" y="-795948"/>
            <a:ext cx="8578563" cy="11878896"/>
            <a:chOff x="0" y="0"/>
            <a:chExt cx="2259375" cy="312859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59375" cy="3128598"/>
            </a:xfrm>
            <a:custGeom>
              <a:avLst/>
              <a:gdLst/>
              <a:ahLst/>
              <a:cxnLst/>
              <a:rect r="r" b="b" t="t" l="l"/>
              <a:pathLst>
                <a:path h="3128598" w="2259375">
                  <a:moveTo>
                    <a:pt x="0" y="0"/>
                  </a:moveTo>
                  <a:lnTo>
                    <a:pt x="2259375" y="0"/>
                  </a:lnTo>
                  <a:lnTo>
                    <a:pt x="2259375" y="3128598"/>
                  </a:lnTo>
                  <a:lnTo>
                    <a:pt x="0" y="3128598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259375" cy="3185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243644" y="1200150"/>
            <a:ext cx="6284802" cy="3431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77"/>
              </a:lnSpc>
            </a:pPr>
            <a:r>
              <a:rPr lang="en-US" sz="8877" spc="-426" b="true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Advantages &amp; Applications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43644" y="7037996"/>
            <a:ext cx="3142401" cy="3394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1"/>
              </a:lnSpc>
            </a:pPr>
            <a:r>
              <a:rPr lang="en-US" b="true" sz="26597" spc="-1303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12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26331" y="1454000"/>
            <a:ext cx="7847905" cy="6640248"/>
            <a:chOff x="0" y="0"/>
            <a:chExt cx="10463874" cy="885366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2869424"/>
              <a:ext cx="10463874" cy="5984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0"/>
                </a:lnSpc>
                <a:spcBef>
                  <a:spcPct val="0"/>
                </a:spcBef>
              </a:pPr>
              <a:r>
                <a:rPr lang="en-US" sz="2400" spc="144">
                  <a:solidFill>
                    <a:srgbClr val="343434"/>
                  </a:solidFill>
                  <a:latin typeface="TT Hoves"/>
                  <a:ea typeface="TT Hoves"/>
                  <a:cs typeface="TT Hoves"/>
                  <a:sym typeface="TT Hoves"/>
                </a:rPr>
                <a:t>Th</a:t>
              </a:r>
              <a:r>
                <a:rPr lang="en-US" sz="2400" spc="144" u="none">
                  <a:solidFill>
                    <a:srgbClr val="343434"/>
                  </a:solidFill>
                  <a:latin typeface="TT Hoves"/>
                  <a:ea typeface="TT Hoves"/>
                  <a:cs typeface="TT Hoves"/>
                  <a:sym typeface="TT Hoves"/>
                </a:rPr>
                <a:t>e project can be enhanced further by integrating additional intelligent features.</a:t>
              </a:r>
            </a:p>
            <a:p>
              <a:pPr algn="l" marL="0" indent="0" lvl="0">
                <a:lnSpc>
                  <a:spcPts val="3240"/>
                </a:lnSpc>
                <a:spcBef>
                  <a:spcPct val="0"/>
                </a:spcBef>
              </a:pPr>
              <a:r>
                <a:rPr lang="en-US" sz="2400" spc="144" u="none">
                  <a:solidFill>
                    <a:srgbClr val="343434"/>
                  </a:solidFill>
                  <a:latin typeface="TT Hoves"/>
                  <a:ea typeface="TT Hoves"/>
                  <a:cs typeface="TT Hoves"/>
                  <a:sym typeface="TT Hoves"/>
                </a:rPr>
                <a:t>Future Enhancements</a:t>
              </a:r>
            </a:p>
            <a:p>
              <a:pPr algn="l" marL="0" indent="0" lvl="0">
                <a:lnSpc>
                  <a:spcPts val="3240"/>
                </a:lnSpc>
                <a:spcBef>
                  <a:spcPct val="0"/>
                </a:spcBef>
              </a:pPr>
              <a:r>
                <a:rPr lang="en-US" sz="2400" spc="144" u="none">
                  <a:solidFill>
                    <a:srgbClr val="343434"/>
                  </a:solidFill>
                  <a:latin typeface="TT Hoves"/>
                  <a:ea typeface="TT Hoves"/>
                  <a:cs typeface="TT Hoves"/>
                  <a:sym typeface="TT Hoves"/>
                </a:rPr>
                <a:t>• Resume Analysis</a:t>
              </a:r>
            </a:p>
            <a:p>
              <a:pPr algn="l" marL="0" indent="0" lvl="0">
                <a:lnSpc>
                  <a:spcPts val="3240"/>
                </a:lnSpc>
                <a:spcBef>
                  <a:spcPct val="0"/>
                </a:spcBef>
              </a:pPr>
              <a:r>
                <a:rPr lang="en-US" sz="2400" spc="144" u="none">
                  <a:solidFill>
                    <a:srgbClr val="343434"/>
                  </a:solidFill>
                  <a:latin typeface="TT Hoves"/>
                  <a:ea typeface="TT Hoves"/>
                  <a:cs typeface="TT Hoves"/>
                  <a:sym typeface="TT Hoves"/>
                </a:rPr>
                <a:t>• Interview Performance Prediction</a:t>
              </a:r>
            </a:p>
            <a:p>
              <a:pPr algn="l" marL="0" indent="0" lvl="0">
                <a:lnSpc>
                  <a:spcPts val="3240"/>
                </a:lnSpc>
                <a:spcBef>
                  <a:spcPct val="0"/>
                </a:spcBef>
              </a:pPr>
              <a:r>
                <a:rPr lang="en-US" sz="2400" spc="144" u="none">
                  <a:solidFill>
                    <a:srgbClr val="343434"/>
                  </a:solidFill>
                  <a:latin typeface="TT Hoves"/>
                  <a:ea typeface="TT Hoves"/>
                  <a:cs typeface="TT Hoves"/>
                  <a:sym typeface="TT Hoves"/>
                </a:rPr>
                <a:t>• Student Recommendation System</a:t>
              </a:r>
            </a:p>
            <a:p>
              <a:pPr algn="l" marL="0" indent="0" lvl="0">
                <a:lnSpc>
                  <a:spcPts val="3240"/>
                </a:lnSpc>
                <a:spcBef>
                  <a:spcPct val="0"/>
                </a:spcBef>
              </a:pPr>
              <a:r>
                <a:rPr lang="en-US" sz="2400" spc="144" u="none">
                  <a:solidFill>
                    <a:srgbClr val="343434"/>
                  </a:solidFill>
                  <a:latin typeface="TT Hoves"/>
                  <a:ea typeface="TT Hoves"/>
                  <a:cs typeface="TT Hoves"/>
                  <a:sym typeface="TT Hoves"/>
                </a:rPr>
                <a:t>• Mobile Application</a:t>
              </a:r>
            </a:p>
            <a:p>
              <a:pPr algn="l" marL="0" indent="0" lvl="0">
                <a:lnSpc>
                  <a:spcPts val="3240"/>
                </a:lnSpc>
                <a:spcBef>
                  <a:spcPct val="0"/>
                </a:spcBef>
              </a:pPr>
              <a:r>
                <a:rPr lang="en-US" sz="2400" spc="144" u="none">
                  <a:solidFill>
                    <a:srgbClr val="343434"/>
                  </a:solidFill>
                  <a:latin typeface="TT Hoves"/>
                  <a:ea typeface="TT Hoves"/>
                  <a:cs typeface="TT Hoves"/>
                  <a:sym typeface="TT Hoves"/>
                </a:rPr>
                <a:t>• Real-Time Dashboard</a:t>
              </a:r>
            </a:p>
            <a:p>
              <a:pPr algn="l" marL="0" indent="0" lvl="0">
                <a:lnSpc>
                  <a:spcPts val="3240"/>
                </a:lnSpc>
                <a:spcBef>
                  <a:spcPct val="0"/>
                </a:spcBef>
              </a:pPr>
              <a:r>
                <a:rPr lang="en-US" sz="2400" spc="144" u="none">
                  <a:solidFill>
                    <a:srgbClr val="343434"/>
                  </a:solidFill>
                  <a:latin typeface="TT Hoves"/>
                  <a:ea typeface="TT Hoves"/>
                  <a:cs typeface="TT Hoves"/>
                  <a:sym typeface="TT Hoves"/>
                </a:rPr>
                <a:t>• Deep Learning Integration</a:t>
              </a:r>
            </a:p>
            <a:p>
              <a:pPr algn="l" marL="0" indent="0" lvl="0">
                <a:lnSpc>
                  <a:spcPts val="3240"/>
                </a:lnSpc>
                <a:spcBef>
                  <a:spcPct val="0"/>
                </a:spcBef>
              </a:pPr>
              <a:r>
                <a:rPr lang="en-US" sz="2400" spc="144" u="none">
                  <a:solidFill>
                    <a:srgbClr val="343434"/>
                  </a:solidFill>
                  <a:latin typeface="TT Hoves"/>
                  <a:ea typeface="TT Hoves"/>
                  <a:cs typeface="TT Hoves"/>
                  <a:sym typeface="TT Hoves"/>
                </a:rPr>
                <a:t>• Integration with College ERP</a:t>
              </a:r>
            </a:p>
            <a:p>
              <a:pPr algn="l" marL="0" indent="0" lvl="0">
                <a:lnSpc>
                  <a:spcPts val="3240"/>
                </a:lnSpc>
                <a:spcBef>
                  <a:spcPct val="0"/>
                </a:spcBef>
              </a:pPr>
              <a:r>
                <a:rPr lang="en-US" sz="2400" spc="144" u="none">
                  <a:solidFill>
                    <a:srgbClr val="343434"/>
                  </a:solidFill>
                  <a:latin typeface="TT Hoves"/>
                  <a:ea typeface="TT Hoves"/>
                  <a:cs typeface="TT Hoves"/>
                  <a:sym typeface="TT Hoves"/>
                </a:rPr>
                <a:t>• Personalized Career Guidance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42875"/>
              <a:ext cx="10185400" cy="18178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0180"/>
                </a:lnSpc>
              </a:pPr>
              <a:r>
                <a:rPr lang="en-US" b="true" sz="9695" spc="-475">
                  <a:solidFill>
                    <a:srgbClr val="343434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Future Scope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3454358" y="-3402220"/>
            <a:ext cx="6218847" cy="6218847"/>
          </a:xfrm>
          <a:custGeom>
            <a:avLst/>
            <a:gdLst/>
            <a:ahLst/>
            <a:cxnLst/>
            <a:rect r="r" b="b" t="t" l="l"/>
            <a:pathLst>
              <a:path h="6218847" w="6218847">
                <a:moveTo>
                  <a:pt x="0" y="0"/>
                </a:moveTo>
                <a:lnTo>
                  <a:pt x="6218847" y="0"/>
                </a:lnTo>
                <a:lnTo>
                  <a:pt x="6218847" y="6218847"/>
                </a:lnTo>
                <a:lnTo>
                  <a:pt x="0" y="6218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658705" y="-1591896"/>
            <a:ext cx="7629295" cy="11878896"/>
            <a:chOff x="0" y="0"/>
            <a:chExt cx="2009362" cy="31285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09361" cy="3128598"/>
            </a:xfrm>
            <a:custGeom>
              <a:avLst/>
              <a:gdLst/>
              <a:ahLst/>
              <a:cxnLst/>
              <a:rect r="r" b="b" t="t" l="l"/>
              <a:pathLst>
                <a:path h="3128598" w="2009361">
                  <a:moveTo>
                    <a:pt x="0" y="0"/>
                  </a:moveTo>
                  <a:lnTo>
                    <a:pt x="2009361" y="0"/>
                  </a:lnTo>
                  <a:lnTo>
                    <a:pt x="2009361" y="3128598"/>
                  </a:lnTo>
                  <a:lnTo>
                    <a:pt x="0" y="3128598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009362" cy="3185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008386" y="6851877"/>
            <a:ext cx="7498697" cy="483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14"/>
              </a:lnSpc>
            </a:pPr>
            <a:r>
              <a:rPr lang="en-US" b="true" sz="37888" spc="-1856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13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-3454358" y="7707130"/>
            <a:ext cx="6218847" cy="6218847"/>
          </a:xfrm>
          <a:custGeom>
            <a:avLst/>
            <a:gdLst/>
            <a:ahLst/>
            <a:cxnLst/>
            <a:rect r="r" b="b" t="t" l="l"/>
            <a:pathLst>
              <a:path h="6218847" w="6218847">
                <a:moveTo>
                  <a:pt x="0" y="0"/>
                </a:moveTo>
                <a:lnTo>
                  <a:pt x="6218847" y="0"/>
                </a:lnTo>
                <a:lnTo>
                  <a:pt x="6218847" y="6218847"/>
                </a:lnTo>
                <a:lnTo>
                  <a:pt x="0" y="6218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96258" y="-976142"/>
            <a:ext cx="7178388" cy="11878896"/>
            <a:chOff x="0" y="0"/>
            <a:chExt cx="1890604" cy="31285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90604" cy="3128598"/>
            </a:xfrm>
            <a:custGeom>
              <a:avLst/>
              <a:gdLst/>
              <a:ahLst/>
              <a:cxnLst/>
              <a:rect r="r" b="b" t="t" l="l"/>
              <a:pathLst>
                <a:path h="3128598" w="1890604">
                  <a:moveTo>
                    <a:pt x="0" y="0"/>
                  </a:moveTo>
                  <a:lnTo>
                    <a:pt x="1890604" y="0"/>
                  </a:lnTo>
                  <a:lnTo>
                    <a:pt x="1890604" y="3128598"/>
                  </a:lnTo>
                  <a:lnTo>
                    <a:pt x="0" y="3128598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890604" cy="3185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957579" y="-4275170"/>
            <a:ext cx="7991003" cy="7991003"/>
          </a:xfrm>
          <a:custGeom>
            <a:avLst/>
            <a:gdLst/>
            <a:ahLst/>
            <a:cxnLst/>
            <a:rect r="r" b="b" t="t" l="l"/>
            <a:pathLst>
              <a:path h="7991003" w="7991003">
                <a:moveTo>
                  <a:pt x="0" y="0"/>
                </a:moveTo>
                <a:lnTo>
                  <a:pt x="7991003" y="0"/>
                </a:lnTo>
                <a:lnTo>
                  <a:pt x="7991003" y="7991003"/>
                </a:lnTo>
                <a:lnTo>
                  <a:pt x="0" y="79910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202567" y="2393683"/>
            <a:ext cx="10381388" cy="5499633"/>
            <a:chOff x="0" y="0"/>
            <a:chExt cx="13841851" cy="7332844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2986904"/>
              <a:ext cx="13841851" cy="43459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3239"/>
                </a:lnSpc>
                <a:spcBef>
                  <a:spcPct val="0"/>
                </a:spcBef>
              </a:pPr>
              <a:r>
                <a:rPr lang="en-US" sz="2399" spc="143">
                  <a:solidFill>
                    <a:srgbClr val="343434"/>
                  </a:solidFill>
                  <a:latin typeface="TT Hoves"/>
                  <a:ea typeface="TT Hoves"/>
                  <a:cs typeface="TT Hoves"/>
                  <a:sym typeface="TT Hoves"/>
                </a:rPr>
                <a:t>Th</a:t>
              </a:r>
              <a:r>
                <a:rPr lang="en-US" sz="2399" spc="143" u="none">
                  <a:solidFill>
                    <a:srgbClr val="343434"/>
                  </a:solidFill>
                  <a:latin typeface="TT Hoves"/>
                  <a:ea typeface="TT Hoves"/>
                  <a:cs typeface="TT Hoves"/>
                  <a:sym typeface="TT Hoves"/>
                </a:rPr>
                <a:t>is project successfully demonstrates the use of Artificial Intelligence and IBM Watsonx.ai AutoAI to predict student placement outcomes based on academic and skill-related parameters. The developed model achieved an accuracy of approximately 97% and was successfully deployed on IBM Cloud for real-time prediction. The system can assist educational institutions in identifying placement-ready students and improving placement strategies through data-driven decision-making.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304800"/>
              <a:ext cx="13014099" cy="22015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1645"/>
                </a:lnSpc>
              </a:pPr>
              <a:r>
                <a:rPr lang="en-US" b="true" sz="12388" spc="-607">
                  <a:solidFill>
                    <a:srgbClr val="343434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Conclusion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-696258" y="6725513"/>
            <a:ext cx="5508869" cy="483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14"/>
              </a:lnSpc>
            </a:pPr>
            <a:r>
              <a:rPr lang="en-US" b="true" sz="37888" spc="-1856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14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183055" y="-3415951"/>
            <a:ext cx="6209891" cy="6209891"/>
          </a:xfrm>
          <a:custGeom>
            <a:avLst/>
            <a:gdLst/>
            <a:ahLst/>
            <a:cxnLst/>
            <a:rect r="r" b="b" t="t" l="l"/>
            <a:pathLst>
              <a:path h="6209891" w="6209891">
                <a:moveTo>
                  <a:pt x="0" y="0"/>
                </a:moveTo>
                <a:lnTo>
                  <a:pt x="6209890" y="0"/>
                </a:lnTo>
                <a:lnTo>
                  <a:pt x="6209890" y="6209891"/>
                </a:lnTo>
                <a:lnTo>
                  <a:pt x="0" y="62098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3322354"/>
            <a:ext cx="11756892" cy="3642292"/>
            <a:chOff x="0" y="0"/>
            <a:chExt cx="3096465" cy="9592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096465" cy="959287"/>
            </a:xfrm>
            <a:custGeom>
              <a:avLst/>
              <a:gdLst/>
              <a:ahLst/>
              <a:cxnLst/>
              <a:rect r="r" b="b" t="t" l="l"/>
              <a:pathLst>
                <a:path h="959287" w="3096465">
                  <a:moveTo>
                    <a:pt x="0" y="0"/>
                  </a:moveTo>
                  <a:lnTo>
                    <a:pt x="3096465" y="0"/>
                  </a:lnTo>
                  <a:lnTo>
                    <a:pt x="3096465" y="959287"/>
                  </a:lnTo>
                  <a:lnTo>
                    <a:pt x="0" y="959287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3096465" cy="1016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47612" y="4305951"/>
            <a:ext cx="10598510" cy="2084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18"/>
              </a:lnSpc>
            </a:pPr>
            <a:r>
              <a:rPr lang="en-US" b="true" sz="16402" spc="-803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Thank You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407225" y="7693400"/>
            <a:ext cx="6209891" cy="6209891"/>
          </a:xfrm>
          <a:custGeom>
            <a:avLst/>
            <a:gdLst/>
            <a:ahLst/>
            <a:cxnLst/>
            <a:rect r="r" b="b" t="t" l="l"/>
            <a:pathLst>
              <a:path h="6209891" w="6209891">
                <a:moveTo>
                  <a:pt x="0" y="0"/>
                </a:moveTo>
                <a:lnTo>
                  <a:pt x="6209891" y="0"/>
                </a:lnTo>
                <a:lnTo>
                  <a:pt x="6209891" y="6209891"/>
                </a:lnTo>
                <a:lnTo>
                  <a:pt x="0" y="62098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DAHPDcJuUV8</dc:identifier>
  <dcterms:modified xsi:type="dcterms:W3CDTF">2011-08-01T06:04:30Z</dcterms:modified>
  <cp:revision>1</cp:revision>
  <dc:title>AI-Based Student Placement Prediction</dc:title>
</cp:coreProperties>
</file>